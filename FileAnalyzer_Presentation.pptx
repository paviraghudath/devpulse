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502920" cy="6858000"/>
          </a:xfrm>
          <a:prstGeom prst="rect">
            <a:avLst/>
          </a:prstGeom>
          <a:solidFill>
            <a:srgbClr val="14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2011680" cy="34747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73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FFFFF"/>
                </a:solidFill>
                <a:latin typeface="Calibri"/>
              </a:rPr>
              <a:t>INTERNAL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400">
                <a:solidFill>
                  <a:srgbClr val="FFFFFF"/>
                </a:solidFill>
                <a:latin typeface="Calibri"/>
              </a:rPr>
              <a:t>FileAnalyzer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AAC4E8"/>
                </a:solidFill>
                <a:latin typeface="Calibri"/>
              </a:rPr>
              <a:t>RAG-Powered Document Q&amp;A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CCDDF0"/>
                </a:solidFill>
                <a:latin typeface="Calibri"/>
              </a:rPr>
              <a:t>Upload any document — get instant AI-powered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2452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CCDDF0"/>
                </a:solidFill>
                <a:latin typeface="Calibri"/>
              </a:rPr>
              <a:t>Local embeddings · OpenAI &amp; Anthropic · Scalable to 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371600"/>
            <a:ext cx="3474720" cy="109728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63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8BBFF"/>
                </a:solidFill>
                <a:latin typeface="Calibri"/>
              </a:rPr>
              <a:t>Supported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Calibri"/>
              </a:rPr>
              <a:t>PDF · DOCX · TXT ·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788920"/>
            <a:ext cx="3474720" cy="109728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8803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8BBFF"/>
                </a:solidFill>
                <a:latin typeface="Calibri"/>
              </a:rPr>
              <a:t>AI Providers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00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Calibri"/>
              </a:rPr>
              <a:t>OpenAI  +  Anthropic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4206240"/>
            <a:ext cx="3474720" cy="109728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297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8BBFF"/>
                </a:solidFill>
                <a:latin typeface="Calibri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  <a:latin typeface="Calibri"/>
              </a:rPr>
              <a:t>AWS EC2  /  ECS Fargate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Internal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Who Can Use FileAnalyzer?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AC4E8"/>
                </a:solidFill>
                <a:latin typeface="Calibri"/>
              </a:rPr>
              <a:t>Any team that needs fast, accurate answers from large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Internal Presentation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651760" cy="3840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2651760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D1B2A"/>
                </a:solidFill>
                <a:latin typeface="Calibri"/>
              </a:rPr>
              <a:t>Analysts &amp;
Researchers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Query 200-page reports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Extract KPIs without manual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Cross-reference multiple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417320"/>
            <a:ext cx="2651760" cy="3840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72968" y="1417320"/>
            <a:ext cx="2651760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D1B2A"/>
                </a:solidFill>
                <a:latin typeface="Calibri"/>
              </a:rPr>
              <a:t>Legal &amp;
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Search contracts for specific clauses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5786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Flag policy violations in bulk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9626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Summarise regulatory filings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1417320"/>
            <a:ext cx="2651760" cy="3840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25896" y="1417320"/>
            <a:ext cx="2651760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D1B2A"/>
                </a:solidFill>
                <a:latin typeface="Calibri"/>
              </a:rPr>
              <a:t>Operations &amp;
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Answer SOPs / runbook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5786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Onboard new staff with doc 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9626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Reduce ticket resolution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1417320"/>
            <a:ext cx="2651760" cy="3840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78824" y="1417320"/>
            <a:ext cx="2651760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D1B2A"/>
                </a:solidFill>
                <a:latin typeface="Calibri"/>
              </a:rPr>
              <a:t>Data &amp;
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Query CSV datasets in plain English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5786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Explore schema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29626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556577"/>
                </a:solidFill>
                <a:latin typeface="Calibri"/>
              </a:rPr>
              <a:t>› Audit logs and structured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48640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  <a:latin typeface="Calibri"/>
              </a:rPr>
              <a:t>500 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61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Max file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8064" y="5532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  <a:latin typeface="Calibri"/>
              </a:rPr>
              <a:t>&lt; 3 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98064" y="5961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Avg query 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532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  <a:latin typeface="Calibri"/>
              </a:rPr>
              <a:t>~400 MB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5961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Peak RAM usage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5532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5961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Local embedding (no API cost)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0656" y="5532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0656" y="5961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Source excerpts per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How FileAnalyzer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AC4E8"/>
                </a:solidFill>
                <a:latin typeface="Calibri"/>
              </a:rPr>
              <a:t>Two-phase pipeline: Ingestion (once) → Retrieval (per query)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Internal Presentation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783080" cy="4572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1. Parse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1783080" cy="3017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29968"/>
            <a:ext cx="1600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0D1B2A"/>
                </a:solidFill>
                <a:latin typeface="Calibri"/>
              </a:rPr>
              <a:t>Streaming parser
(PDF/DOCX/TXT/CSV)
Never loads full
file into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292608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1E6FB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463040"/>
            <a:ext cx="1783080" cy="457200"/>
          </a:xfrm>
          <a:prstGeom prst="rect">
            <a:avLst/>
          </a:prstGeom>
          <a:solidFill>
            <a:srgbClr val="147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2. Chunk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21992" y="1920240"/>
            <a:ext cx="1783080" cy="3017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029968"/>
            <a:ext cx="1600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0D1B2A"/>
                </a:solidFill>
                <a:latin typeface="Calibri"/>
              </a:rPr>
              <a:t>512-char overlapping
windows (64-char
overlap) preserves
cross-boundary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292608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1E6FBF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4" y="1463040"/>
            <a:ext cx="1783080" cy="457200"/>
          </a:xfrm>
          <a:prstGeom prst="rect">
            <a:avLst/>
          </a:prstGeom>
          <a:solidFill>
            <a:srgbClr val="0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3. Embed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9664" y="1920240"/>
            <a:ext cx="1783080" cy="3017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029968"/>
            <a:ext cx="1600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0D1B2A"/>
                </a:solidFill>
                <a:latin typeface="Calibri"/>
              </a:rPr>
              <a:t>sentence-transformers
all-MiniLM-L6-v2
(local, free)
Batch size 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0176" y="292608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1E6FB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1463040"/>
            <a:ext cx="1783080" cy="457200"/>
          </a:xfrm>
          <a:prstGeom prst="rect">
            <a:avLst/>
          </a:prstGeom>
          <a:solidFill>
            <a:srgbClr val="08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4.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920240"/>
            <a:ext cx="1783080" cy="3017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2029968"/>
            <a:ext cx="1600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0D1B2A"/>
                </a:solidFill>
                <a:latin typeface="Calibri"/>
              </a:rPr>
              <a:t>ChromaDB
persistent vector
store on disk
1 collection/doc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292608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1E6FBF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1463040"/>
            <a:ext cx="1783080" cy="457200"/>
          </a:xfrm>
          <a:prstGeom prst="rect">
            <a:avLst/>
          </a:prstGeom>
          <a:solidFill>
            <a:srgbClr val="1A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5. Retrieve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1920240"/>
            <a:ext cx="1783080" cy="3017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2029968"/>
            <a:ext cx="1600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0D1B2A"/>
                </a:solidFill>
                <a:latin typeface="Calibri"/>
              </a:rPr>
              <a:t>Top-6 similar
chunks via cosine
similarity
≤ 12,000 chars ctx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92608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1E6FBF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1463040"/>
            <a:ext cx="1783080" cy="457200"/>
          </a:xfrm>
          <a:prstGeom prst="rect">
            <a:avLst/>
          </a:prstGeom>
          <a:solidFill>
            <a:srgbClr val="0F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151790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6. Answer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1920240"/>
            <a:ext cx="1783080" cy="3017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2408" y="2029968"/>
            <a:ext cx="1600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0D1B2A"/>
                </a:solidFill>
                <a:latin typeface="Calibri"/>
              </a:rPr>
              <a:t>LLMClient streams
tokens via
OpenAI or
Anthropic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074920"/>
            <a:ext cx="6986016" cy="274320"/>
          </a:xfrm>
          <a:prstGeom prst="rect">
            <a:avLst/>
          </a:prstGeom>
          <a:solidFill>
            <a:srgbClr val="D0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79208" y="5074920"/>
            <a:ext cx="4507992" cy="274320"/>
          </a:xfrm>
          <a:prstGeom prst="rect">
            <a:avLst/>
          </a:prstGeom>
          <a:solidFill>
            <a:srgbClr val="C8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0840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0D1B2A"/>
                </a:solidFill>
                <a:latin typeface="Calibri"/>
              </a:rPr>
              <a:t>INGESTION PHASE  (run once per document)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7" y="508406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A8C5E"/>
                </a:solidFill>
                <a:latin typeface="Calibri"/>
              </a:rPr>
              <a:t>RETRIEVAL PHASE  (per user query)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AI Models &amp;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AC4E8"/>
                </a:solidFill>
                <a:latin typeface="Calibri"/>
              </a:rPr>
              <a:t>Switch between OpenAI and Anthropic in the UI sidebar — no code changes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Internal Presentation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152144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Embedding Model  —  all-MiniLM-L6-v2  (sentence-transformers)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AC4E8"/>
                </a:solidFill>
                <a:latin typeface="Calibri"/>
              </a:rPr>
              <a:t>›  Runs 100% locally — zero API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562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AC4E8"/>
                </a:solidFill>
                <a:latin typeface="Calibri"/>
              </a:rPr>
              <a:t>›  ~80 MB download, cached after first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562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AC4E8"/>
                </a:solidFill>
                <a:latin typeface="Calibri"/>
              </a:rPr>
              <a:t>›  384-dimension vectors · optimised for semantic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8562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AAC4E8"/>
                </a:solidFill>
                <a:latin typeface="Calibri"/>
              </a:rPr>
              <a:t>›  Works offline after initial download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42032"/>
            <a:ext cx="5486400" cy="3474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542032"/>
            <a:ext cx="5486400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786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D1B2A"/>
                </a:solidFill>
                <a:latin typeface="Calibri"/>
              </a:rPr>
              <a:t>OpenAI  (ChatGPT)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044952"/>
            <a:ext cx="5449824" cy="29260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063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63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063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06324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06324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3364992"/>
            <a:ext cx="5449824" cy="3291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401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gpt-4o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4015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4015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Best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4015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$0.005 / 1K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401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Recommended for most queries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" y="3703320"/>
            <a:ext cx="544982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739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gpt-4o-mini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739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Very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7398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Good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37398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$0.00015 / 1K 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7398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High-volume / cost-sensitive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" y="4041648"/>
            <a:ext cx="5449824" cy="3291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0782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gpt-4-turbo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0782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Moderate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0782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Excellent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07822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$0.01 / 1K tokens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07822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Deep analytical tasks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542032"/>
            <a:ext cx="5742432" cy="3474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2542032"/>
            <a:ext cx="574243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578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D1B2A"/>
                </a:solidFill>
                <a:latin typeface="Calibri"/>
              </a:rPr>
              <a:t>Anthropic  (Claude)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3044952"/>
            <a:ext cx="5705856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063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063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30632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306324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06324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3364992"/>
            <a:ext cx="5705856" cy="3291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401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claude-sonnet-4-6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4015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Fast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34015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Excellent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4015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$0.003 / 1K tokens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40156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Best balance of quality &amp; cost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3703320"/>
            <a:ext cx="5705856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3739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claude-opus-4-6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739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Slower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7" y="37398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Best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37398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$0.015 / 1K tokens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373989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Complex reasoning &amp; analysis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44768" y="4041648"/>
            <a:ext cx="5705856" cy="3291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40782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claude-haiku-4-5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0782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Very fast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327" y="40782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Good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407822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$0.00025 / 1K tokens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407822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0D1B2A"/>
                </a:solidFill>
                <a:latin typeface="Calibri"/>
              </a:rPr>
              <a:t>High-volume / cost-sensitive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556577"/>
                </a:solidFill>
                <a:latin typeface="Calibri"/>
              </a:rPr>
              <a:t>Users enter their API key once in the sidebar — the app never stores it on disk.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Deployment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AC4E8"/>
                </a:solidFill>
                <a:latin typeface="Calibri"/>
              </a:rPr>
              <a:t>Three paths from laptop to production — pick the right fit for your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Internal Presentation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566160" cy="4480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566160" cy="5029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0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Local /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39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streamlit run 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4144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Python 3.10+, pip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API key in .env or UI sidebar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Data stored in data/vector_store/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484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Port 8501 (configurable)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617720"/>
            <a:ext cx="3346704" cy="658368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4636008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FFFFFF"/>
                </a:solidFill>
                <a:latin typeface="Calibri"/>
              </a:rPr>
              <a:t>Best for: Single developer,
prototyping, demos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490472"/>
            <a:ext cx="914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15087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1E6FBF"/>
                </a:solidFill>
                <a:latin typeface="Calibri"/>
              </a:rPr>
              <a:t>$0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7368" y="1417320"/>
            <a:ext cx="3566160" cy="4480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7368" y="1417320"/>
            <a:ext cx="3566160" cy="502920"/>
          </a:xfrm>
          <a:prstGeom prst="rect">
            <a:avLst/>
          </a:prstGeom>
          <a:solidFill>
            <a:srgbClr val="1A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1490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AWS EC2  (Recommended)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2039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Ubuntu 22.04, t3.medium (min 4 GB RAM)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44144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systemd service — auto-starts on reboot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28437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nginx reverse proxy on port 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HTTPS via Certbot / Let's Encrypt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36484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One command deploy script included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7096" y="4617720"/>
            <a:ext cx="3346704" cy="658368"/>
          </a:xfrm>
          <a:prstGeom prst="rect">
            <a:avLst/>
          </a:prstGeom>
          <a:solidFill>
            <a:srgbClr val="1A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4636008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FFFFFF"/>
                </a:solidFill>
                <a:latin typeface="Calibri"/>
              </a:rPr>
              <a:t>Best for: Small team,
persistent shared instance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7688" y="1490472"/>
            <a:ext cx="914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15087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1A8C5E"/>
                </a:solidFill>
                <a:latin typeface="Calibri"/>
              </a:rPr>
              <a:t>~$30 /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0416" y="1417320"/>
            <a:ext cx="3566160" cy="4480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0416" y="1417320"/>
            <a:ext cx="3566160" cy="50292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7576" y="1490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AWS ECS Fargate  (Scalable)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576" y="2039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Docker container → ECR registry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244144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ECS Fargate — no server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7576" y="28437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EFS for persistent ChromaDB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6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ALB load balancer for 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36484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D1B2A"/>
                </a:solidFill>
                <a:latin typeface="Calibri"/>
              </a:rPr>
              <a:t>›  API keys in Secrets Manager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10144" y="4617720"/>
            <a:ext cx="3346704" cy="65836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8" y="4636008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FFFFFF"/>
                </a:solidFill>
                <a:latin typeface="Calibri"/>
              </a:rPr>
              <a:t>Best for: Teams, auto-scaling,
production workloads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0736" y="1490472"/>
            <a:ext cx="9144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79024" y="15087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87D1E"/>
                </a:solidFill>
                <a:latin typeface="Calibri"/>
              </a:rPr>
              <a:t>~$12–35 /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Scaling FileAnalyzer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AC4E8"/>
                </a:solidFill>
                <a:latin typeface="Calibri"/>
              </a:rPr>
              <a:t>Four proven patterns — apply as demand grows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Internal Presentation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5440680" cy="2103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64008" cy="21031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5179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E6FBF"/>
                </a:solidFill>
                <a:latin typeface="Calibri"/>
              </a:rPr>
              <a:t>Scale UP
(Bigger machine)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5798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Upgrade EC2: t3.medium → t3.large → m6i.xlarge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43230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More RAM = larger embedding model (e.g. all-mpnet-base-v2)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70662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More CPUs = faster chunking &amp; embedding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98094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Zero code changes — just resize the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163824"/>
            <a:ext cx="5184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556577"/>
                </a:solidFill>
                <a:latin typeface="Calibri"/>
              </a:rPr>
              <a:t>When to apply:  Trigger: single user, large files (100–500 MB), slow ingestion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1444752"/>
            <a:ext cx="5440680" cy="2103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444752"/>
            <a:ext cx="64008" cy="2103120"/>
          </a:xfrm>
          <a:prstGeom prst="rect">
            <a:avLst/>
          </a:prstGeom>
          <a:solidFill>
            <a:srgbClr val="1A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5179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8C5E"/>
                </a:solidFill>
                <a:latin typeface="Calibri"/>
              </a:rPr>
              <a:t>Scale OUT
(More instances)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15798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ECS Fargate service: set desired-count &gt;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43230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ALB routes users to available 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70662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Each container has its own ChromaDB on EFS (shared)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980944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Add Auto Scaling policy on CPU &gt; 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3163824"/>
            <a:ext cx="5184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556577"/>
                </a:solidFill>
                <a:latin typeface="Calibri"/>
              </a:rPr>
              <a:t>When to apply:  Trigger: multiple concurrent users, peak-hour slowdowns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03904"/>
            <a:ext cx="5440680" cy="2103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03904"/>
            <a:ext cx="64008" cy="210312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877056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7D1E"/>
                </a:solidFill>
                <a:latin typeface="Calibri"/>
              </a:rPr>
              <a:t>Scale DOCUMENTS
(Larger knowledge base)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1713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Replace ChromaDB with pgvector (PostgreSQL) or Pinecone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79145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Store all document collections in one shared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506577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Retriever queries across ALL docs simultaneously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34009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Enable multi-document Q&amp;A from one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522976"/>
            <a:ext cx="5184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556577"/>
                </a:solidFill>
                <a:latin typeface="Calibri"/>
              </a:rPr>
              <a:t>When to apply:  Trigger: &gt;100 documents, org-wide knowledge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08192" y="3803904"/>
            <a:ext cx="5440680" cy="2103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08192" y="3803904"/>
            <a:ext cx="64008" cy="2103120"/>
          </a:xfrm>
          <a:prstGeom prst="rect">
            <a:avLst/>
          </a:prstGeom>
          <a:solidFill>
            <a:srgbClr val="6A1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4" y="3877056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6A1BAA"/>
                </a:solidFill>
                <a:latin typeface="Calibri"/>
              </a:rPr>
              <a:t>Scale TEAMS
(Multi-user / Auth)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451713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Add Cognito / OAuth login layer in front of ALB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479145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User-scoped collections: each user sees only their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506577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Usage logging via CloudWatch — track API spend per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5340096"/>
            <a:ext cx="5184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0D1B2A"/>
                </a:solidFill>
                <a:latin typeface="Calibri"/>
              </a:rPr>
              <a:t>›  Rate limiting via ALB WAF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5522976"/>
            <a:ext cx="5184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556577"/>
                </a:solidFill>
                <a:latin typeface="Calibri"/>
              </a:rPr>
              <a:t>When to apply:  Trigger: multiple departments, compliance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74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88A8CC"/>
                </a:solidFill>
                <a:latin typeface="Calibri"/>
              </a:rPr>
              <a:t>FileAnalyzer  |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2560320" cy="457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760720" cy="2834640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1E6FBF"/>
                </a:solidFill>
                <a:latin typeface="Calibri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81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✓  Answers questions on any PDF, DOCX, TXT, or CSV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196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✓  Runs locally — documents never leave your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57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✓  Supports both OpenAI and Anthropic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963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✓  Handles files up to 500 MB with constant ~400 MB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34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✓  Ready to deploy on AWS EC2 or ECS Fargate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172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  <a:latin typeface="Calibri"/>
              </a:rPr>
              <a:t>✓  Scales from single developer to org-wide knowledge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005840"/>
            <a:ext cx="5349240" cy="2834640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0789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E87D1E"/>
                </a:solidFill>
                <a:latin typeface="Calibri"/>
              </a:rPr>
              <a:t>Getting started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1481328"/>
            <a:ext cx="347472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4813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4813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Run locally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7556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pip install -r requirements.txt
streamlit run app.py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139696"/>
            <a:ext cx="347472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1396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21396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Add API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41401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Enter OpenAI or Anthropic key
in the UI sidebar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2798064"/>
            <a:ext cx="347472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798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27980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Upload &amp;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07238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Drag a document, click Analyze,
start asking questions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01968" y="3456432"/>
            <a:ext cx="347472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4564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4564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Deploy to AWS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7307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AC4E8"/>
                </a:solidFill>
                <a:latin typeface="Calibri"/>
              </a:rPr>
              <a:t>Follow EC2 guide in README
(~30 min, one script)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69080"/>
            <a:ext cx="11475720" cy="7772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1422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700">
                <a:solidFill>
                  <a:srgbClr val="FFFFFF"/>
                </a:solidFill>
                <a:latin typeface="Calibri"/>
              </a:rPr>
              <a:t>FileAnalyzer is production-ready.  Deploy today and give your team instant answers from any document.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Python 3.10+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56232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01952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Streamlit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46704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92424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ChromaDB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37176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sentence-transformers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OpenAI SDK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Anthropic SDK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2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Docker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99064" y="5074920"/>
            <a:ext cx="1417320" cy="310896"/>
          </a:xfrm>
          <a:prstGeom prst="rect">
            <a:avLst/>
          </a:prstGeom>
          <a:solidFill>
            <a:srgbClr val="10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44784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88BBFF"/>
                </a:solidFill>
                <a:latin typeface="Calibri"/>
              </a:rPr>
              <a:t>AWS EC2 / 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