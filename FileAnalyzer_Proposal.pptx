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46"/>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046720" y="0"/>
            <a:ext cx="4142232" cy="685800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0"/>
            <a:ext cx="457200" cy="6858000"/>
          </a:xfrm>
          <a:prstGeom prst="rect">
            <a:avLst/>
          </a:prstGeom>
          <a:solidFill>
            <a:srgbClr val="14559A"/>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2103120"/>
            <a:ext cx="7132320" cy="891540"/>
          </a:xfrm>
          <a:prstGeom prst="rect">
            <a:avLst/>
          </a:prstGeom>
          <a:noFill/>
        </p:spPr>
        <p:txBody>
          <a:bodyPr wrap="square">
            <a:spAutoFit/>
          </a:bodyPr>
          <a:lstStyle/>
          <a:p>
            <a:pPr algn="l"/>
            <a:r>
              <a:rPr lang="en-US" sz="5200" b="1" i="0">
                <a:solidFill>
                  <a:schemeClr val="accent1">
                    <a:lumMod val="75000"/>
                  </a:schemeClr>
                </a:solidFill>
                <a:latin typeface="Calibri" panose="020F0502020204030204"/>
              </a:rPr>
              <a:t>DevPulse</a:t>
            </a:r>
            <a:endParaRPr lang="en-US" sz="5200" b="1" i="0">
              <a:solidFill>
                <a:schemeClr val="accent1">
                  <a:lumMod val="75000"/>
                </a:schemeClr>
              </a:solidFill>
              <a:latin typeface="Calibri" panose="020F0502020204030204"/>
            </a:endParaRPr>
          </a:p>
        </p:txBody>
      </p:sp>
      <p:sp>
        <p:nvSpPr>
          <p:cNvPr id="8" name="TextBox 7"/>
          <p:cNvSpPr txBox="1"/>
          <p:nvPr/>
        </p:nvSpPr>
        <p:spPr>
          <a:xfrm>
            <a:off x="411480" y="3063240"/>
            <a:ext cx="7132320" cy="777240"/>
          </a:xfrm>
          <a:prstGeom prst="rect">
            <a:avLst/>
          </a:prstGeom>
          <a:noFill/>
        </p:spPr>
        <p:txBody>
          <a:bodyPr wrap="square">
            <a:spAutoFit/>
          </a:bodyPr>
          <a:lstStyle/>
          <a:p>
            <a:pPr algn="l"/>
            <a:r>
              <a:rPr sz="2000" b="0" i="0">
                <a:solidFill>
                  <a:schemeClr val="accent1">
                    <a:lumMod val="75000"/>
                  </a:schemeClr>
                </a:solidFill>
                <a:latin typeface="Calibri" panose="020F0502020204030204"/>
              </a:rPr>
              <a:t>AI-Powered Log Monitoring, Document Analysis
&amp; Deployment Automation</a:t>
            </a:r>
            <a:endParaRPr sz="2000" b="0" i="0">
              <a:solidFill>
                <a:schemeClr val="accent1">
                  <a:lumMod val="75000"/>
                </a:schemeClr>
              </a:solidFill>
              <a:latin typeface="Calibri" panose="020F0502020204030204"/>
            </a:endParaRPr>
          </a:p>
        </p:txBody>
      </p:sp>
      <p:sp>
        <p:nvSpPr>
          <p:cNvPr id="9" name="TextBox 8"/>
          <p:cNvSpPr txBox="1"/>
          <p:nvPr/>
        </p:nvSpPr>
        <p:spPr>
          <a:xfrm>
            <a:off x="502920" y="3977639"/>
            <a:ext cx="6949440" cy="347472"/>
          </a:xfrm>
          <a:prstGeom prst="rect">
            <a:avLst/>
          </a:prstGeom>
          <a:noFill/>
        </p:spPr>
        <p:txBody>
          <a:bodyPr wrap="square">
            <a:spAutoFit/>
          </a:bodyPr>
          <a:lstStyle/>
          <a:p>
            <a:pPr algn="l"/>
            <a:r>
              <a:rPr sz="1400" b="0" i="0">
                <a:solidFill>
                  <a:schemeClr val="accent1">
                    <a:lumMod val="75000"/>
                  </a:schemeClr>
                </a:solidFill>
                <a:latin typeface="Calibri" panose="020F0502020204030204"/>
              </a:rPr>
              <a:t>›  Automated error detection across remote servers</a:t>
            </a:r>
            <a:endParaRPr sz="1400" b="0" i="0">
              <a:solidFill>
                <a:schemeClr val="accent1">
                  <a:lumMod val="75000"/>
                </a:schemeClr>
              </a:solidFill>
              <a:latin typeface="Calibri" panose="020F0502020204030204"/>
            </a:endParaRPr>
          </a:p>
        </p:txBody>
      </p:sp>
      <p:sp>
        <p:nvSpPr>
          <p:cNvPr id="10" name="TextBox 9"/>
          <p:cNvSpPr txBox="1"/>
          <p:nvPr/>
        </p:nvSpPr>
        <p:spPr>
          <a:xfrm>
            <a:off x="511810" y="4324857"/>
            <a:ext cx="6949440" cy="347472"/>
          </a:xfrm>
          <a:prstGeom prst="rect">
            <a:avLst/>
          </a:prstGeom>
          <a:noFill/>
        </p:spPr>
        <p:txBody>
          <a:bodyPr wrap="square">
            <a:spAutoFit/>
          </a:bodyPr>
          <a:lstStyle/>
          <a:p>
            <a:pPr algn="l"/>
            <a:r>
              <a:rPr sz="1400" b="0" i="0">
                <a:solidFill>
                  <a:schemeClr val="accent1">
                    <a:lumMod val="75000"/>
                  </a:schemeClr>
                </a:solidFill>
                <a:latin typeface="Calibri" panose="020F0502020204030204"/>
              </a:rPr>
              <a:t>›  AI document Q&amp;A — any file, plain English answers</a:t>
            </a:r>
            <a:endParaRPr sz="1400" b="0" i="0">
              <a:solidFill>
                <a:schemeClr val="accent1">
                  <a:lumMod val="75000"/>
                </a:schemeClr>
              </a:solidFill>
              <a:latin typeface="Calibri" panose="020F0502020204030204"/>
            </a:endParaRPr>
          </a:p>
        </p:txBody>
      </p:sp>
      <p:sp>
        <p:nvSpPr>
          <p:cNvPr id="11" name="TextBox 10"/>
          <p:cNvSpPr txBox="1"/>
          <p:nvPr/>
        </p:nvSpPr>
        <p:spPr>
          <a:xfrm>
            <a:off x="502920" y="4745735"/>
            <a:ext cx="6949440" cy="347472"/>
          </a:xfrm>
          <a:prstGeom prst="rect">
            <a:avLst/>
          </a:prstGeom>
          <a:noFill/>
        </p:spPr>
        <p:txBody>
          <a:bodyPr wrap="square">
            <a:spAutoFit/>
          </a:bodyPr>
          <a:lstStyle/>
          <a:p>
            <a:pPr algn="l"/>
            <a:r>
              <a:rPr sz="1400" b="0" i="0">
                <a:solidFill>
                  <a:schemeClr val="accent1">
                    <a:lumMod val="75000"/>
                  </a:schemeClr>
                </a:solidFill>
                <a:latin typeface="Calibri" panose="020F0502020204030204"/>
              </a:rPr>
              <a:t>›  One-click Git integration &amp; CI/CD deployment</a:t>
            </a:r>
            <a:endParaRPr sz="1400" b="0" i="0">
              <a:solidFill>
                <a:schemeClr val="accent1">
                  <a:lumMod val="75000"/>
                </a:schemeClr>
              </a:solidFill>
              <a:latin typeface="Calibri" panose="020F0502020204030204"/>
            </a:endParaRPr>
          </a:p>
        </p:txBody>
      </p:sp>
      <p:sp>
        <p:nvSpPr>
          <p:cNvPr id="12" name="Rectangle 11"/>
          <p:cNvSpPr/>
          <p:nvPr/>
        </p:nvSpPr>
        <p:spPr>
          <a:xfrm>
            <a:off x="8321040" y="1280160"/>
            <a:ext cx="3474720" cy="109728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1371600"/>
            <a:ext cx="3200400" cy="347472"/>
          </a:xfrm>
          <a:prstGeom prst="rect">
            <a:avLst/>
          </a:prstGeom>
          <a:noFill/>
        </p:spPr>
        <p:txBody>
          <a:bodyPr wrap="square">
            <a:spAutoFit/>
          </a:bodyPr>
          <a:lstStyle/>
          <a:p>
            <a:pPr algn="l"/>
            <a:r>
              <a:rPr sz="1100" b="0" i="0">
                <a:solidFill>
                  <a:srgbClr val="88BBFF"/>
                </a:solidFill>
                <a:latin typeface="Calibri" panose="020F0502020204030204"/>
              </a:rPr>
              <a:t>Who</a:t>
            </a:r>
            <a:endParaRPr sz="1100" b="0" i="0">
              <a:solidFill>
                <a:srgbClr val="88BBFF"/>
              </a:solidFill>
              <a:latin typeface="Calibri" panose="020F0502020204030204"/>
            </a:endParaRPr>
          </a:p>
        </p:txBody>
      </p:sp>
      <p:sp>
        <p:nvSpPr>
          <p:cNvPr id="14" name="TextBox 13"/>
          <p:cNvSpPr txBox="1"/>
          <p:nvPr/>
        </p:nvSpPr>
        <p:spPr>
          <a:xfrm>
            <a:off x="8430768" y="1691640"/>
            <a:ext cx="3200400" cy="352425"/>
          </a:xfrm>
          <a:prstGeom prst="rect">
            <a:avLst/>
          </a:prstGeom>
          <a:noFill/>
        </p:spPr>
        <p:txBody>
          <a:bodyPr wrap="square">
            <a:spAutoFit/>
          </a:bodyPr>
          <a:lstStyle/>
          <a:p>
            <a:pPr algn="l"/>
            <a:r>
              <a:rPr sz="1700" b="1" i="0">
                <a:solidFill>
                  <a:srgbClr val="FFFFFF"/>
                </a:solidFill>
                <a:latin typeface="Calibri" panose="020F0502020204030204"/>
              </a:rPr>
              <a:t>Dev, Support</a:t>
            </a:r>
            <a:endParaRPr sz="1700" b="1" i="0">
              <a:solidFill>
                <a:srgbClr val="FFFFFF"/>
              </a:solidFill>
              <a:latin typeface="Calibri" panose="020F0502020204030204"/>
            </a:endParaRPr>
          </a:p>
        </p:txBody>
      </p:sp>
      <p:sp>
        <p:nvSpPr>
          <p:cNvPr id="15" name="Rectangle 14"/>
          <p:cNvSpPr/>
          <p:nvPr/>
        </p:nvSpPr>
        <p:spPr>
          <a:xfrm>
            <a:off x="8321040" y="2743200"/>
            <a:ext cx="3474720" cy="109728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2834640"/>
            <a:ext cx="3200400" cy="347472"/>
          </a:xfrm>
          <a:prstGeom prst="rect">
            <a:avLst/>
          </a:prstGeom>
          <a:noFill/>
        </p:spPr>
        <p:txBody>
          <a:bodyPr wrap="square">
            <a:spAutoFit/>
          </a:bodyPr>
          <a:lstStyle/>
          <a:p>
            <a:pPr algn="l"/>
            <a:r>
              <a:rPr sz="1100" b="0" i="0">
                <a:solidFill>
                  <a:srgbClr val="88BBFF"/>
                </a:solidFill>
                <a:latin typeface="Calibri" panose="020F0502020204030204"/>
              </a:rPr>
              <a:t>Status</a:t>
            </a:r>
            <a:endParaRPr sz="1100" b="0" i="0">
              <a:solidFill>
                <a:srgbClr val="88BBFF"/>
              </a:solidFill>
              <a:latin typeface="Calibri" panose="020F0502020204030204"/>
            </a:endParaRPr>
          </a:p>
        </p:txBody>
      </p:sp>
      <p:sp>
        <p:nvSpPr>
          <p:cNvPr id="17" name="TextBox 16"/>
          <p:cNvSpPr txBox="1"/>
          <p:nvPr/>
        </p:nvSpPr>
        <p:spPr>
          <a:xfrm>
            <a:off x="8430768" y="3154680"/>
            <a:ext cx="3200400" cy="502920"/>
          </a:xfrm>
          <a:prstGeom prst="rect">
            <a:avLst/>
          </a:prstGeom>
          <a:noFill/>
        </p:spPr>
        <p:txBody>
          <a:bodyPr wrap="square">
            <a:spAutoFit/>
          </a:bodyPr>
          <a:lstStyle/>
          <a:p>
            <a:pPr algn="l"/>
            <a:r>
              <a:rPr sz="1700" b="1" i="0">
                <a:solidFill>
                  <a:srgbClr val="FFFFFF"/>
                </a:solidFill>
                <a:latin typeface="Calibri" panose="020F0502020204030204"/>
              </a:rPr>
              <a:t>Production Ready</a:t>
            </a:r>
            <a:endParaRPr sz="1700" b="1" i="0">
              <a:solidFill>
                <a:srgbClr val="FFFFFF"/>
              </a:solidFill>
              <a:latin typeface="Calibri" panose="020F0502020204030204"/>
            </a:endParaRPr>
          </a:p>
        </p:txBody>
      </p:sp>
      <p:sp>
        <p:nvSpPr>
          <p:cNvPr id="18" name="Rectangle 17"/>
          <p:cNvSpPr/>
          <p:nvPr/>
        </p:nvSpPr>
        <p:spPr>
          <a:xfrm>
            <a:off x="8321040" y="4206240"/>
            <a:ext cx="3474720" cy="109728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0768" y="4297680"/>
            <a:ext cx="3200400" cy="347472"/>
          </a:xfrm>
          <a:prstGeom prst="rect">
            <a:avLst/>
          </a:prstGeom>
          <a:noFill/>
        </p:spPr>
        <p:txBody>
          <a:bodyPr wrap="square">
            <a:spAutoFit/>
          </a:bodyPr>
          <a:lstStyle/>
          <a:p>
            <a:pPr algn="l"/>
            <a:r>
              <a:rPr sz="1100" b="0" i="0">
                <a:solidFill>
                  <a:srgbClr val="88BBFF"/>
                </a:solidFill>
                <a:latin typeface="Calibri" panose="020F0502020204030204"/>
              </a:rPr>
              <a:t>Scope</a:t>
            </a:r>
            <a:endParaRPr sz="1100" b="0" i="0">
              <a:solidFill>
                <a:srgbClr val="88BBFF"/>
              </a:solidFill>
              <a:latin typeface="Calibri" panose="020F0502020204030204"/>
            </a:endParaRPr>
          </a:p>
        </p:txBody>
      </p:sp>
      <p:sp>
        <p:nvSpPr>
          <p:cNvPr id="20" name="TextBox 19"/>
          <p:cNvSpPr txBox="1"/>
          <p:nvPr/>
        </p:nvSpPr>
        <p:spPr>
          <a:xfrm>
            <a:off x="8430768" y="4617720"/>
            <a:ext cx="3200400" cy="502920"/>
          </a:xfrm>
          <a:prstGeom prst="rect">
            <a:avLst/>
          </a:prstGeom>
          <a:noFill/>
        </p:spPr>
        <p:txBody>
          <a:bodyPr wrap="square">
            <a:spAutoFit/>
          </a:bodyPr>
          <a:lstStyle/>
          <a:p>
            <a:pPr algn="l"/>
            <a:r>
              <a:rPr sz="1700" b="1" i="0">
                <a:solidFill>
                  <a:srgbClr val="FFFFFF"/>
                </a:solidFill>
                <a:latin typeface="Calibri" panose="020F0502020204030204"/>
              </a:rPr>
              <a:t>Current + Future</a:t>
            </a:r>
            <a:endParaRPr sz="1700" b="1" i="0">
              <a:solidFill>
                <a:srgbClr val="FFFFFF"/>
              </a:solidFill>
              <a:latin typeface="Calibri" panose="020F0502020204030204"/>
            </a:endParaRPr>
          </a:p>
        </p:txBody>
      </p:sp>
      <p:sp>
        <p:nvSpPr>
          <p:cNvPr id="21" name="Rectangle 20"/>
          <p:cNvSpPr/>
          <p:nvPr/>
        </p:nvSpPr>
        <p:spPr>
          <a:xfrm>
            <a:off x="0" y="6565392"/>
            <a:ext cx="12188952" cy="29260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144000" cy="640080"/>
          </a:xfrm>
          <a:prstGeom prst="rect">
            <a:avLst/>
          </a:prstGeom>
          <a:noFill/>
        </p:spPr>
        <p:txBody>
          <a:bodyPr wrap="square">
            <a:spAutoFit/>
          </a:bodyPr>
          <a:lstStyle/>
          <a:p>
            <a:pPr algn="l"/>
            <a:r>
              <a:rPr sz="2800" b="1" i="0">
                <a:solidFill>
                  <a:srgbClr val="FFFFFF"/>
                </a:solidFill>
                <a:latin typeface="Calibri" panose="020F0502020204030204"/>
              </a:rPr>
              <a:t>Proposal Overview</a:t>
            </a:r>
            <a:endParaRPr sz="2800" b="1" i="0">
              <a:solidFill>
                <a:srgbClr val="FFFFFF"/>
              </a:solidFill>
              <a:latin typeface="Calibri" panose="020F0502020204030204"/>
            </a:endParaRPr>
          </a:p>
        </p:txBody>
      </p:sp>
      <p:sp>
        <p:nvSpPr>
          <p:cNvPr id="5" name="TextBox 4"/>
          <p:cNvSpPr txBox="1"/>
          <p:nvPr/>
        </p:nvSpPr>
        <p:spPr>
          <a:xfrm>
            <a:off x="411480" y="713232"/>
            <a:ext cx="10515600" cy="411480"/>
          </a:xfrm>
          <a:prstGeom prst="rect">
            <a:avLst/>
          </a:prstGeom>
          <a:noFill/>
        </p:spPr>
        <p:txBody>
          <a:bodyPr wrap="square">
            <a:spAutoFit/>
          </a:bodyPr>
          <a:lstStyle/>
          <a:p>
            <a:pPr algn="l"/>
            <a:r>
              <a:rPr sz="1400" b="0" i="0">
                <a:solidFill>
                  <a:srgbClr val="AAC4E8"/>
                </a:solidFill>
                <a:latin typeface="Calibri" panose="020F0502020204030204"/>
              </a:rPr>
              <a:t>At a glance — the problem, solution, and value</a:t>
            </a:r>
            <a:endParaRPr sz="1400" b="0" i="0">
              <a:solidFill>
                <a:srgbClr val="AAC4E8"/>
              </a:solidFill>
              <a:latin typeface="Calibri" panose="020F0502020204030204"/>
            </a:endParaRPr>
          </a:p>
        </p:txBody>
      </p:sp>
      <p:sp>
        <p:nvSpPr>
          <p:cNvPr id="6" name="Rectangle 5"/>
          <p:cNvSpPr/>
          <p:nvPr/>
        </p:nvSpPr>
        <p:spPr>
          <a:xfrm>
            <a:off x="0" y="1234440"/>
            <a:ext cx="12188952" cy="54864"/>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65392"/>
            <a:ext cx="12188952" cy="29260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417320"/>
            <a:ext cx="1417320" cy="621792"/>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601216"/>
            <a:ext cx="1417320" cy="411480"/>
          </a:xfrm>
          <a:prstGeom prst="rect">
            <a:avLst/>
          </a:prstGeom>
          <a:noFill/>
        </p:spPr>
        <p:txBody>
          <a:bodyPr wrap="square">
            <a:spAutoFit/>
          </a:bodyPr>
          <a:lstStyle/>
          <a:p>
            <a:pPr algn="ctr"/>
            <a:r>
              <a:rPr sz="1600" b="1" i="0">
                <a:solidFill>
                  <a:srgbClr val="FFFFFF"/>
                </a:solidFill>
                <a:latin typeface="Calibri" panose="020F0502020204030204"/>
              </a:rPr>
              <a:t>WHO</a:t>
            </a:r>
            <a:endParaRPr sz="1600" b="1" i="0">
              <a:solidFill>
                <a:srgbClr val="FFFFFF"/>
              </a:solidFill>
              <a:latin typeface="Calibri" panose="020F0502020204030204"/>
            </a:endParaRPr>
          </a:p>
        </p:txBody>
      </p:sp>
      <p:sp>
        <p:nvSpPr>
          <p:cNvPr id="11" name="Rectangle 10"/>
          <p:cNvSpPr/>
          <p:nvPr/>
        </p:nvSpPr>
        <p:spPr>
          <a:xfrm>
            <a:off x="1737360" y="1417320"/>
            <a:ext cx="10131552" cy="6217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417320"/>
            <a:ext cx="54864" cy="621792"/>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01952" y="1508760"/>
            <a:ext cx="9829800" cy="291465"/>
          </a:xfrm>
          <a:prstGeom prst="rect">
            <a:avLst/>
          </a:prstGeom>
          <a:noFill/>
        </p:spPr>
        <p:txBody>
          <a:bodyPr wrap="square">
            <a:spAutoFit/>
          </a:bodyPr>
          <a:lstStyle/>
          <a:p>
            <a:pPr algn="l"/>
            <a:r>
              <a:rPr sz="1300" b="0" i="0">
                <a:solidFill>
                  <a:srgbClr val="0D1B2A"/>
                </a:solidFill>
                <a:latin typeface="Calibri" panose="020F0502020204030204"/>
              </a:rPr>
              <a:t>Development Teams  ·   Operations  ·  Support Teams</a:t>
            </a:r>
            <a:endParaRPr sz="1300" b="0" i="0">
              <a:solidFill>
                <a:srgbClr val="0D1B2A"/>
              </a:solidFill>
              <a:latin typeface="Calibri" panose="020F0502020204030204"/>
            </a:endParaRPr>
          </a:p>
        </p:txBody>
      </p:sp>
      <p:sp>
        <p:nvSpPr>
          <p:cNvPr id="14" name="Rectangle 13"/>
          <p:cNvSpPr/>
          <p:nvPr/>
        </p:nvSpPr>
        <p:spPr>
          <a:xfrm>
            <a:off x="320040" y="2112264"/>
            <a:ext cx="1417320" cy="1143000"/>
          </a:xfrm>
          <a:prstGeom prst="rect">
            <a:avLst/>
          </a:prstGeom>
          <a:solidFill>
            <a:srgbClr val="1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2556764"/>
            <a:ext cx="1417320" cy="411480"/>
          </a:xfrm>
          <a:prstGeom prst="rect">
            <a:avLst/>
          </a:prstGeom>
          <a:noFill/>
        </p:spPr>
        <p:txBody>
          <a:bodyPr wrap="square">
            <a:spAutoFit/>
          </a:bodyPr>
          <a:lstStyle/>
          <a:p>
            <a:pPr algn="ctr"/>
            <a:r>
              <a:rPr sz="1600" b="1" i="0">
                <a:solidFill>
                  <a:srgbClr val="FFFFFF"/>
                </a:solidFill>
                <a:latin typeface="Calibri" panose="020F0502020204030204"/>
              </a:rPr>
              <a:t>WHAT</a:t>
            </a:r>
            <a:endParaRPr sz="1600" b="1" i="0">
              <a:solidFill>
                <a:srgbClr val="FFFFFF"/>
              </a:solidFill>
              <a:latin typeface="Calibri" panose="020F0502020204030204"/>
            </a:endParaRPr>
          </a:p>
        </p:txBody>
      </p:sp>
      <p:sp>
        <p:nvSpPr>
          <p:cNvPr id="16" name="Rectangle 15"/>
          <p:cNvSpPr/>
          <p:nvPr/>
        </p:nvSpPr>
        <p:spPr>
          <a:xfrm>
            <a:off x="1737360" y="2112264"/>
            <a:ext cx="10131552" cy="1143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737360" y="2112264"/>
            <a:ext cx="54864" cy="1143000"/>
          </a:xfrm>
          <a:prstGeom prst="rect">
            <a:avLst/>
          </a:prstGeom>
          <a:solidFill>
            <a:srgbClr val="1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1952" y="2203704"/>
            <a:ext cx="9829800" cy="978408"/>
          </a:xfrm>
          <a:prstGeom prst="rect">
            <a:avLst/>
          </a:prstGeom>
          <a:noFill/>
        </p:spPr>
        <p:txBody>
          <a:bodyPr wrap="square">
            <a:spAutoFit/>
          </a:bodyPr>
          <a:lstStyle/>
          <a:p>
            <a:pPr algn="l"/>
            <a:r>
              <a:rPr sz="1300" b="0" i="0">
                <a:solidFill>
                  <a:srgbClr val="0D1B2A"/>
                </a:solidFill>
                <a:latin typeface="Calibri" panose="020F0502020204030204"/>
              </a:rPr>
              <a:t>Log monitoring is manual and slow. Document review requires reading entire files. Deployments require direct server access and SSH expertise. Teams must switch context away from their IDE to investigate issues.</a:t>
            </a:r>
            <a:endParaRPr sz="1300" b="0" i="0">
              <a:solidFill>
                <a:srgbClr val="0D1B2A"/>
              </a:solidFill>
              <a:latin typeface="Calibri" panose="020F0502020204030204"/>
            </a:endParaRPr>
          </a:p>
        </p:txBody>
      </p:sp>
      <p:sp>
        <p:nvSpPr>
          <p:cNvPr id="19" name="Rectangle 18"/>
          <p:cNvSpPr/>
          <p:nvPr/>
        </p:nvSpPr>
        <p:spPr>
          <a:xfrm>
            <a:off x="320040" y="3328416"/>
            <a:ext cx="1417320" cy="1691640"/>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047236"/>
            <a:ext cx="1417320" cy="411480"/>
          </a:xfrm>
          <a:prstGeom prst="rect">
            <a:avLst/>
          </a:prstGeom>
          <a:noFill/>
        </p:spPr>
        <p:txBody>
          <a:bodyPr wrap="square">
            <a:spAutoFit/>
          </a:bodyPr>
          <a:lstStyle/>
          <a:p>
            <a:pPr algn="ctr"/>
            <a:r>
              <a:rPr sz="1600" b="1" i="0">
                <a:solidFill>
                  <a:srgbClr val="FFFFFF"/>
                </a:solidFill>
                <a:latin typeface="Calibri" panose="020F0502020204030204"/>
              </a:rPr>
              <a:t>HOW</a:t>
            </a:r>
            <a:endParaRPr sz="1600" b="1" i="0">
              <a:solidFill>
                <a:srgbClr val="FFFFFF"/>
              </a:solidFill>
              <a:latin typeface="Calibri" panose="020F0502020204030204"/>
            </a:endParaRPr>
          </a:p>
        </p:txBody>
      </p:sp>
      <p:sp>
        <p:nvSpPr>
          <p:cNvPr id="21" name="Rectangle 20"/>
          <p:cNvSpPr/>
          <p:nvPr/>
        </p:nvSpPr>
        <p:spPr>
          <a:xfrm>
            <a:off x="1737360" y="3328416"/>
            <a:ext cx="10131552" cy="16916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737360" y="3328416"/>
            <a:ext cx="54864" cy="1691640"/>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1952" y="3419856"/>
            <a:ext cx="9829800" cy="1527048"/>
          </a:xfrm>
          <a:prstGeom prst="rect">
            <a:avLst/>
          </a:prstGeom>
          <a:noFill/>
        </p:spPr>
        <p:txBody>
          <a:bodyPr wrap="square">
            <a:spAutoFit/>
          </a:bodyPr>
          <a:lstStyle/>
          <a:p>
            <a:pPr algn="l"/>
            <a:r>
              <a:rPr sz="1300" b="0" i="0">
                <a:solidFill>
                  <a:srgbClr val="0D1B2A"/>
                </a:solidFill>
                <a:latin typeface="Calibri" panose="020F0502020204030204"/>
              </a:rPr>
              <a:t>FileAnalyzer connects to remote servers via SSH, pulls logs on a schedule, detects errors automatically, and sends HTML email alerts. Any document (PDF, Word, CSV) can be queried in plain English using AI. Git integration detects project type and triggers CI/CD or SSH build+deploy. A REST API lets VS Code, IntelliJ, and Visual Studio connect directly.</a:t>
            </a:r>
            <a:endParaRPr sz="1300" b="0" i="0">
              <a:solidFill>
                <a:srgbClr val="0D1B2A"/>
              </a:solidFill>
              <a:latin typeface="Calibri" panose="020F0502020204030204"/>
            </a:endParaRPr>
          </a:p>
        </p:txBody>
      </p:sp>
      <p:sp>
        <p:nvSpPr>
          <p:cNvPr id="24" name="Rectangle 23"/>
          <p:cNvSpPr/>
          <p:nvPr/>
        </p:nvSpPr>
        <p:spPr>
          <a:xfrm>
            <a:off x="320040" y="5093208"/>
            <a:ext cx="1417320" cy="777240"/>
          </a:xfrm>
          <a:prstGeom prst="rect">
            <a:avLst/>
          </a:prstGeom>
          <a:solidFill>
            <a:srgbClr val="6A1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5354828"/>
            <a:ext cx="1417320" cy="411480"/>
          </a:xfrm>
          <a:prstGeom prst="rect">
            <a:avLst/>
          </a:prstGeom>
          <a:noFill/>
        </p:spPr>
        <p:txBody>
          <a:bodyPr wrap="square">
            <a:spAutoFit/>
          </a:bodyPr>
          <a:lstStyle/>
          <a:p>
            <a:pPr algn="ctr"/>
            <a:r>
              <a:rPr sz="1600" b="1" i="0">
                <a:solidFill>
                  <a:srgbClr val="FFFFFF"/>
                </a:solidFill>
                <a:latin typeface="Calibri" panose="020F0502020204030204"/>
              </a:rPr>
              <a:t>IMPACT</a:t>
            </a:r>
            <a:endParaRPr sz="1600" b="1" i="0">
              <a:solidFill>
                <a:srgbClr val="FFFFFF"/>
              </a:solidFill>
              <a:latin typeface="Calibri" panose="020F0502020204030204"/>
            </a:endParaRPr>
          </a:p>
        </p:txBody>
      </p:sp>
      <p:sp>
        <p:nvSpPr>
          <p:cNvPr id="26" name="Rectangle 25"/>
          <p:cNvSpPr/>
          <p:nvPr/>
        </p:nvSpPr>
        <p:spPr>
          <a:xfrm>
            <a:off x="1737360" y="5093208"/>
            <a:ext cx="10131552" cy="7772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37360" y="5093208"/>
            <a:ext cx="54864" cy="777240"/>
          </a:xfrm>
          <a:prstGeom prst="rect">
            <a:avLst/>
          </a:prstGeom>
          <a:solidFill>
            <a:srgbClr val="6A1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01952" y="5184648"/>
            <a:ext cx="9829800" cy="612648"/>
          </a:xfrm>
          <a:prstGeom prst="rect">
            <a:avLst/>
          </a:prstGeom>
          <a:noFill/>
        </p:spPr>
        <p:txBody>
          <a:bodyPr wrap="square">
            <a:spAutoFit/>
          </a:bodyPr>
          <a:lstStyle/>
          <a:p>
            <a:pPr algn="l"/>
            <a:r>
              <a:rPr sz="1300" b="0" i="0">
                <a:solidFill>
                  <a:srgbClr val="0D1B2A"/>
                </a:solidFill>
                <a:latin typeface="Calibri" panose="020F0502020204030204"/>
              </a:rPr>
              <a:t>Faster error detection  ·  No manual log tailing  ·  Zero context switching for developers  ·  Automated deployment pipeline  ·  Instant AI answers from any document</a:t>
            </a:r>
            <a:endParaRPr sz="1300" b="0" i="0">
              <a:solidFill>
                <a:srgbClr val="0D1B2A"/>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144000" cy="640080"/>
          </a:xfrm>
          <a:prstGeom prst="rect">
            <a:avLst/>
          </a:prstGeom>
          <a:noFill/>
        </p:spPr>
        <p:txBody>
          <a:bodyPr wrap="square">
            <a:spAutoFit/>
          </a:bodyPr>
          <a:lstStyle/>
          <a:p>
            <a:pPr algn="l"/>
            <a:r>
              <a:rPr sz="2800" b="1" i="0">
                <a:solidFill>
                  <a:srgbClr val="FFFFFF"/>
                </a:solidFill>
                <a:latin typeface="Calibri" panose="020F0502020204030204"/>
              </a:rPr>
              <a:t>Problem Statement</a:t>
            </a:r>
            <a:endParaRPr sz="2800" b="1" i="0">
              <a:solidFill>
                <a:srgbClr val="FFFFFF"/>
              </a:solidFill>
              <a:latin typeface="Calibri" panose="020F0502020204030204"/>
            </a:endParaRPr>
          </a:p>
        </p:txBody>
      </p:sp>
      <p:sp>
        <p:nvSpPr>
          <p:cNvPr id="5" name="TextBox 4"/>
          <p:cNvSpPr txBox="1"/>
          <p:nvPr/>
        </p:nvSpPr>
        <p:spPr>
          <a:xfrm>
            <a:off x="411480" y="713232"/>
            <a:ext cx="10515600" cy="411480"/>
          </a:xfrm>
          <a:prstGeom prst="rect">
            <a:avLst/>
          </a:prstGeom>
          <a:noFill/>
        </p:spPr>
        <p:txBody>
          <a:bodyPr wrap="square">
            <a:spAutoFit/>
          </a:bodyPr>
          <a:lstStyle/>
          <a:p>
            <a:pPr algn="l"/>
            <a:r>
              <a:rPr sz="1400" b="0" i="0">
                <a:solidFill>
                  <a:srgbClr val="AAC4E8"/>
                </a:solidFill>
                <a:latin typeface="Calibri" panose="020F0502020204030204"/>
              </a:rPr>
              <a:t>What teams are dealing with today</a:t>
            </a:r>
            <a:endParaRPr sz="1400" b="0" i="0">
              <a:solidFill>
                <a:srgbClr val="AAC4E8"/>
              </a:solidFill>
              <a:latin typeface="Calibri" panose="020F0502020204030204"/>
            </a:endParaRPr>
          </a:p>
        </p:txBody>
      </p:sp>
      <p:sp>
        <p:nvSpPr>
          <p:cNvPr id="6" name="Rectangle 5"/>
          <p:cNvSpPr/>
          <p:nvPr/>
        </p:nvSpPr>
        <p:spPr>
          <a:xfrm>
            <a:off x="0" y="1234440"/>
            <a:ext cx="12188952" cy="54864"/>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65392"/>
            <a:ext cx="12188952" cy="292608"/>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444752"/>
            <a:ext cx="5440680" cy="19933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444752"/>
            <a:ext cx="5440680" cy="54864"/>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444752"/>
            <a:ext cx="64008" cy="1993392"/>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536192"/>
            <a:ext cx="5166360" cy="347472"/>
          </a:xfrm>
          <a:prstGeom prst="rect">
            <a:avLst/>
          </a:prstGeom>
          <a:noFill/>
        </p:spPr>
        <p:txBody>
          <a:bodyPr wrap="square">
            <a:spAutoFit/>
          </a:bodyPr>
          <a:lstStyle/>
          <a:p>
            <a:pPr algn="l"/>
            <a:r>
              <a:rPr sz="1500" b="1" i="0">
                <a:solidFill>
                  <a:srgbClr val="0D1B2A"/>
                </a:solidFill>
                <a:latin typeface="Calibri" panose="020F0502020204030204"/>
              </a:rPr>
              <a:t>Manual Log Monitoring</a:t>
            </a:r>
            <a:endParaRPr sz="1500" b="1" i="0">
              <a:solidFill>
                <a:srgbClr val="0D1B2A"/>
              </a:solidFill>
              <a:latin typeface="Calibri" panose="020F0502020204030204"/>
            </a:endParaRPr>
          </a:p>
        </p:txBody>
      </p:sp>
      <p:sp>
        <p:nvSpPr>
          <p:cNvPr id="13" name="TextBox 12"/>
          <p:cNvSpPr txBox="1"/>
          <p:nvPr/>
        </p:nvSpPr>
        <p:spPr>
          <a:xfrm>
            <a:off x="502920" y="1920240"/>
            <a:ext cx="5166360" cy="1444752"/>
          </a:xfrm>
          <a:prstGeom prst="rect">
            <a:avLst/>
          </a:prstGeom>
          <a:noFill/>
        </p:spPr>
        <p:txBody>
          <a:bodyPr wrap="square">
            <a:spAutoFit/>
          </a:bodyPr>
          <a:lstStyle/>
          <a:p>
            <a:pPr algn="l"/>
            <a:r>
              <a:rPr sz="1250" b="0" i="0">
                <a:solidFill>
                  <a:srgbClr val="556577"/>
                </a:solidFill>
                <a:latin typeface="Calibri" panose="020F0502020204030204"/>
              </a:rPr>
              <a:t>Developers SSH into production servers to tail log files when issues occur. There is no automated alerting — errors go unnoticed until a user reports them.</a:t>
            </a:r>
            <a:endParaRPr sz="1250" b="0" i="0">
              <a:solidFill>
                <a:srgbClr val="556577"/>
              </a:solidFill>
              <a:latin typeface="Calibri" panose="020F0502020204030204"/>
            </a:endParaRPr>
          </a:p>
        </p:txBody>
      </p:sp>
      <p:sp>
        <p:nvSpPr>
          <p:cNvPr id="14" name="Rectangle 13"/>
          <p:cNvSpPr/>
          <p:nvPr/>
        </p:nvSpPr>
        <p:spPr>
          <a:xfrm>
            <a:off x="6153912" y="1444752"/>
            <a:ext cx="5440680" cy="19933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3912" y="1444752"/>
            <a:ext cx="5440680" cy="54864"/>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444752"/>
            <a:ext cx="64008" cy="1993392"/>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1536192"/>
            <a:ext cx="5166360" cy="347472"/>
          </a:xfrm>
          <a:prstGeom prst="rect">
            <a:avLst/>
          </a:prstGeom>
          <a:noFill/>
        </p:spPr>
        <p:txBody>
          <a:bodyPr wrap="square">
            <a:spAutoFit/>
          </a:bodyPr>
          <a:lstStyle/>
          <a:p>
            <a:pPr algn="l"/>
            <a:r>
              <a:rPr sz="1500" b="1" i="0">
                <a:solidFill>
                  <a:srgbClr val="0D1B2A"/>
                </a:solidFill>
                <a:latin typeface="Calibri" panose="020F0502020204030204"/>
              </a:rPr>
              <a:t>No Document Intelligence</a:t>
            </a:r>
            <a:endParaRPr sz="1500" b="1" i="0">
              <a:solidFill>
                <a:srgbClr val="0D1B2A"/>
              </a:solidFill>
              <a:latin typeface="Calibri" panose="020F0502020204030204"/>
            </a:endParaRPr>
          </a:p>
        </p:txBody>
      </p:sp>
      <p:sp>
        <p:nvSpPr>
          <p:cNvPr id="18" name="TextBox 17"/>
          <p:cNvSpPr txBox="1"/>
          <p:nvPr/>
        </p:nvSpPr>
        <p:spPr>
          <a:xfrm>
            <a:off x="6336792" y="1920240"/>
            <a:ext cx="5166360" cy="475615"/>
          </a:xfrm>
          <a:prstGeom prst="rect">
            <a:avLst/>
          </a:prstGeom>
          <a:noFill/>
        </p:spPr>
        <p:txBody>
          <a:bodyPr wrap="square">
            <a:spAutoFit/>
          </a:bodyPr>
          <a:lstStyle/>
          <a:p>
            <a:pPr algn="l"/>
            <a:r>
              <a:rPr sz="1250" b="0" i="0">
                <a:solidFill>
                  <a:srgbClr val="556577"/>
                </a:solidFill>
                <a:latin typeface="Calibri" panose="020F0502020204030204"/>
              </a:rPr>
              <a:t>Reviewing a 200-page spec or </a:t>
            </a:r>
            <a:r>
              <a:rPr lang="en-US" sz="1250" b="0" i="0">
                <a:solidFill>
                  <a:srgbClr val="556577"/>
                </a:solidFill>
                <a:latin typeface="Calibri" panose="020F0502020204030204"/>
              </a:rPr>
              <a:t>pos docu </a:t>
            </a:r>
            <a:r>
              <a:rPr sz="1250" b="0" i="0">
                <a:solidFill>
                  <a:srgbClr val="556577"/>
                </a:solidFill>
                <a:latin typeface="Calibri" panose="020F0502020204030204"/>
              </a:rPr>
              <a:t>requires reading the whole file. Teams have no way to ask plain English questions and get instant answers.</a:t>
            </a:r>
            <a:endParaRPr sz="1250" b="0" i="0">
              <a:solidFill>
                <a:srgbClr val="556577"/>
              </a:solidFill>
              <a:latin typeface="Calibri" panose="020F0502020204030204"/>
            </a:endParaRPr>
          </a:p>
        </p:txBody>
      </p:sp>
      <p:sp>
        <p:nvSpPr>
          <p:cNvPr id="19" name="Rectangle 18"/>
          <p:cNvSpPr/>
          <p:nvPr/>
        </p:nvSpPr>
        <p:spPr>
          <a:xfrm>
            <a:off x="320040" y="3666744"/>
            <a:ext cx="5440680" cy="19933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3666744"/>
            <a:ext cx="5440680" cy="54864"/>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3666744"/>
            <a:ext cx="64008" cy="1993392"/>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758184"/>
            <a:ext cx="5166360" cy="347472"/>
          </a:xfrm>
          <a:prstGeom prst="rect">
            <a:avLst/>
          </a:prstGeom>
          <a:noFill/>
        </p:spPr>
        <p:txBody>
          <a:bodyPr wrap="square">
            <a:spAutoFit/>
          </a:bodyPr>
          <a:lstStyle/>
          <a:p>
            <a:pPr algn="l"/>
            <a:r>
              <a:rPr sz="1500" b="1" i="0">
                <a:solidFill>
                  <a:srgbClr val="0D1B2A"/>
                </a:solidFill>
                <a:latin typeface="Calibri" panose="020F0502020204030204"/>
              </a:rPr>
              <a:t>Complex Deployments</a:t>
            </a:r>
            <a:endParaRPr sz="1500" b="1" i="0">
              <a:solidFill>
                <a:srgbClr val="0D1B2A"/>
              </a:solidFill>
              <a:latin typeface="Calibri" panose="020F0502020204030204"/>
            </a:endParaRPr>
          </a:p>
        </p:txBody>
      </p:sp>
      <p:sp>
        <p:nvSpPr>
          <p:cNvPr id="23" name="TextBox 22"/>
          <p:cNvSpPr txBox="1"/>
          <p:nvPr/>
        </p:nvSpPr>
        <p:spPr>
          <a:xfrm>
            <a:off x="502920" y="4142232"/>
            <a:ext cx="5166360" cy="1444752"/>
          </a:xfrm>
          <a:prstGeom prst="rect">
            <a:avLst/>
          </a:prstGeom>
          <a:noFill/>
        </p:spPr>
        <p:txBody>
          <a:bodyPr wrap="square">
            <a:spAutoFit/>
          </a:bodyPr>
          <a:lstStyle/>
          <a:p>
            <a:pPr algn="l"/>
            <a:r>
              <a:rPr sz="1250" b="0" i="0">
                <a:solidFill>
                  <a:srgbClr val="556577"/>
                </a:solidFill>
                <a:latin typeface="Calibri" panose="020F0502020204030204"/>
              </a:rPr>
              <a:t>Deploying a Spring Boot or React app requires knowing the server layout, running build commands over SSH, and copying artifacts manually.</a:t>
            </a:r>
            <a:endParaRPr sz="1250" b="0" i="0">
              <a:solidFill>
                <a:srgbClr val="556577"/>
              </a:solidFill>
              <a:latin typeface="Calibri" panose="020F0502020204030204"/>
            </a:endParaRPr>
          </a:p>
        </p:txBody>
      </p:sp>
      <p:sp>
        <p:nvSpPr>
          <p:cNvPr id="24" name="Rectangle 23"/>
          <p:cNvSpPr/>
          <p:nvPr/>
        </p:nvSpPr>
        <p:spPr>
          <a:xfrm>
            <a:off x="6153912" y="3666744"/>
            <a:ext cx="5440680" cy="19933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3912" y="3666744"/>
            <a:ext cx="5440680" cy="54864"/>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3666744"/>
            <a:ext cx="64008" cy="1993392"/>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6792" y="3758184"/>
            <a:ext cx="5166360" cy="347472"/>
          </a:xfrm>
          <a:prstGeom prst="rect">
            <a:avLst/>
          </a:prstGeom>
          <a:noFill/>
        </p:spPr>
        <p:txBody>
          <a:bodyPr wrap="square">
            <a:spAutoFit/>
          </a:bodyPr>
          <a:lstStyle/>
          <a:p>
            <a:pPr algn="l"/>
            <a:r>
              <a:rPr sz="1500" b="1" i="0">
                <a:solidFill>
                  <a:srgbClr val="0D1B2A"/>
                </a:solidFill>
                <a:latin typeface="Calibri" panose="020F0502020204030204"/>
              </a:rPr>
              <a:t>Constant Context Switching</a:t>
            </a:r>
            <a:endParaRPr sz="1500" b="1" i="0">
              <a:solidFill>
                <a:srgbClr val="0D1B2A"/>
              </a:solidFill>
              <a:latin typeface="Calibri" panose="020F0502020204030204"/>
            </a:endParaRPr>
          </a:p>
        </p:txBody>
      </p:sp>
      <p:sp>
        <p:nvSpPr>
          <p:cNvPr id="28" name="TextBox 27"/>
          <p:cNvSpPr txBox="1"/>
          <p:nvPr/>
        </p:nvSpPr>
        <p:spPr>
          <a:xfrm>
            <a:off x="6336792" y="4142232"/>
            <a:ext cx="5166360" cy="1444752"/>
          </a:xfrm>
          <a:prstGeom prst="rect">
            <a:avLst/>
          </a:prstGeom>
          <a:noFill/>
        </p:spPr>
        <p:txBody>
          <a:bodyPr wrap="square">
            <a:spAutoFit/>
          </a:bodyPr>
          <a:lstStyle/>
          <a:p>
            <a:pPr algn="l"/>
            <a:r>
              <a:rPr sz="1250" b="0" i="0">
                <a:solidFill>
                  <a:srgbClr val="556577"/>
                </a:solidFill>
                <a:latin typeface="Calibri" panose="020F0502020204030204"/>
              </a:rPr>
              <a:t>Developers leave IntelliJ or VS Code to open a browser or terminal every time they need to check a log or look something up in a document.</a:t>
            </a:r>
            <a:endParaRPr sz="1250" b="0" i="0">
              <a:solidFill>
                <a:srgbClr val="556577"/>
              </a:solidFill>
              <a:latin typeface="Calibri" panose="020F0502020204030204"/>
            </a:endParaRPr>
          </a:p>
        </p:txBody>
      </p:sp>
      <p:sp>
        <p:nvSpPr>
          <p:cNvPr id="29" name="Rectangle 28"/>
          <p:cNvSpPr/>
          <p:nvPr/>
        </p:nvSpPr>
        <p:spPr>
          <a:xfrm>
            <a:off x="0" y="5715000"/>
            <a:ext cx="12188952" cy="77724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144000" cy="640080"/>
          </a:xfrm>
          <a:prstGeom prst="rect">
            <a:avLst/>
          </a:prstGeom>
          <a:noFill/>
        </p:spPr>
        <p:txBody>
          <a:bodyPr wrap="square">
            <a:spAutoFit/>
          </a:bodyPr>
          <a:lstStyle/>
          <a:p>
            <a:pPr algn="l"/>
            <a:r>
              <a:rPr sz="2800" b="1" i="0">
                <a:solidFill>
                  <a:srgbClr val="FFFFFF"/>
                </a:solidFill>
                <a:latin typeface="Calibri" panose="020F0502020204030204"/>
              </a:rPr>
              <a:t>Proposed Solution</a:t>
            </a:r>
            <a:endParaRPr sz="2800" b="1" i="0">
              <a:solidFill>
                <a:srgbClr val="FFFFFF"/>
              </a:solidFill>
              <a:latin typeface="Calibri" panose="020F0502020204030204"/>
            </a:endParaRPr>
          </a:p>
        </p:txBody>
      </p:sp>
      <p:sp>
        <p:nvSpPr>
          <p:cNvPr id="5" name="TextBox 4"/>
          <p:cNvSpPr txBox="1"/>
          <p:nvPr/>
        </p:nvSpPr>
        <p:spPr>
          <a:xfrm>
            <a:off x="411480" y="713232"/>
            <a:ext cx="10515600" cy="411480"/>
          </a:xfrm>
          <a:prstGeom prst="rect">
            <a:avLst/>
          </a:prstGeom>
          <a:noFill/>
        </p:spPr>
        <p:txBody>
          <a:bodyPr wrap="square">
            <a:spAutoFit/>
          </a:bodyPr>
          <a:lstStyle/>
          <a:p>
            <a:pPr algn="l"/>
            <a:r>
              <a:rPr sz="1400" b="0" i="0">
                <a:solidFill>
                  <a:srgbClr val="AAC4E8"/>
                </a:solidFill>
                <a:latin typeface="Calibri" panose="020F0502020204030204"/>
              </a:rPr>
              <a:t>Four integrated capabilities — one AI agent</a:t>
            </a:r>
            <a:endParaRPr sz="1400" b="0" i="0">
              <a:solidFill>
                <a:srgbClr val="AAC4E8"/>
              </a:solidFill>
              <a:latin typeface="Calibri" panose="020F0502020204030204"/>
            </a:endParaRPr>
          </a:p>
        </p:txBody>
      </p:sp>
      <p:sp>
        <p:nvSpPr>
          <p:cNvPr id="6" name="Rectangle 5"/>
          <p:cNvSpPr/>
          <p:nvPr/>
        </p:nvSpPr>
        <p:spPr>
          <a:xfrm>
            <a:off x="0" y="1234440"/>
            <a:ext cx="12188952" cy="54864"/>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65392"/>
            <a:ext cx="12188952" cy="29260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417320"/>
            <a:ext cx="5440680" cy="21488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417320"/>
            <a:ext cx="5440680" cy="438912"/>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472184"/>
            <a:ext cx="5212080" cy="347472"/>
          </a:xfrm>
          <a:prstGeom prst="rect">
            <a:avLst/>
          </a:prstGeom>
          <a:noFill/>
        </p:spPr>
        <p:txBody>
          <a:bodyPr wrap="square">
            <a:spAutoFit/>
          </a:bodyPr>
          <a:lstStyle/>
          <a:p>
            <a:pPr algn="l"/>
            <a:r>
              <a:rPr sz="1500" b="1" i="0">
                <a:solidFill>
                  <a:srgbClr val="FFFFFF"/>
                </a:solidFill>
                <a:latin typeface="Calibri" panose="020F0502020204030204"/>
              </a:rPr>
              <a:t>Remote Log Monitoring</a:t>
            </a:r>
            <a:endParaRPr sz="1500" b="1" i="0">
              <a:solidFill>
                <a:srgbClr val="FFFFFF"/>
              </a:solidFill>
              <a:latin typeface="Calibri" panose="020F0502020204030204"/>
            </a:endParaRPr>
          </a:p>
        </p:txBody>
      </p:sp>
      <p:sp>
        <p:nvSpPr>
          <p:cNvPr id="12" name="TextBox 11"/>
          <p:cNvSpPr txBox="1"/>
          <p:nvPr/>
        </p:nvSpPr>
        <p:spPr>
          <a:xfrm>
            <a:off x="457200" y="1947672"/>
            <a:ext cx="5212080" cy="347472"/>
          </a:xfrm>
          <a:prstGeom prst="rect">
            <a:avLst/>
          </a:prstGeom>
          <a:noFill/>
        </p:spPr>
        <p:txBody>
          <a:bodyPr wrap="square">
            <a:spAutoFit/>
          </a:bodyPr>
          <a:lstStyle/>
          <a:p>
            <a:pPr algn="l"/>
            <a:r>
              <a:rPr sz="1250" b="0" i="0">
                <a:solidFill>
                  <a:srgbClr val="0D1B2A"/>
                </a:solidFill>
                <a:latin typeface="Calibri" panose="020F0502020204030204"/>
              </a:rPr>
              <a:t>›  SSH into AWS EC2 servers on a schedule</a:t>
            </a:r>
            <a:endParaRPr sz="1250" b="0" i="0">
              <a:solidFill>
                <a:srgbClr val="0D1B2A"/>
              </a:solidFill>
              <a:latin typeface="Calibri" panose="020F0502020204030204"/>
            </a:endParaRPr>
          </a:p>
        </p:txBody>
      </p:sp>
      <p:sp>
        <p:nvSpPr>
          <p:cNvPr id="13" name="TextBox 12"/>
          <p:cNvSpPr txBox="1"/>
          <p:nvPr/>
        </p:nvSpPr>
        <p:spPr>
          <a:xfrm>
            <a:off x="457200" y="2322576"/>
            <a:ext cx="5212080" cy="347472"/>
          </a:xfrm>
          <a:prstGeom prst="rect">
            <a:avLst/>
          </a:prstGeom>
          <a:noFill/>
        </p:spPr>
        <p:txBody>
          <a:bodyPr wrap="square">
            <a:spAutoFit/>
          </a:bodyPr>
          <a:lstStyle/>
          <a:p>
            <a:pPr algn="l"/>
            <a:r>
              <a:rPr sz="1250" b="0" i="0">
                <a:solidFill>
                  <a:srgbClr val="0D1B2A"/>
                </a:solidFill>
                <a:latin typeface="Calibri" panose="020F0502020204030204"/>
              </a:rPr>
              <a:t>›  Incremental reads — only new log content fetched</a:t>
            </a:r>
            <a:endParaRPr sz="1250" b="0" i="0">
              <a:solidFill>
                <a:srgbClr val="0D1B2A"/>
              </a:solidFill>
              <a:latin typeface="Calibri" panose="020F0502020204030204"/>
            </a:endParaRPr>
          </a:p>
        </p:txBody>
      </p:sp>
      <p:sp>
        <p:nvSpPr>
          <p:cNvPr id="14" name="TextBox 13"/>
          <p:cNvSpPr txBox="1"/>
          <p:nvPr/>
        </p:nvSpPr>
        <p:spPr>
          <a:xfrm>
            <a:off x="457200" y="2697480"/>
            <a:ext cx="5212080" cy="347472"/>
          </a:xfrm>
          <a:prstGeom prst="rect">
            <a:avLst/>
          </a:prstGeom>
          <a:noFill/>
        </p:spPr>
        <p:txBody>
          <a:bodyPr wrap="square">
            <a:spAutoFit/>
          </a:bodyPr>
          <a:lstStyle/>
          <a:p>
            <a:pPr algn="l"/>
            <a:r>
              <a:rPr sz="1250" b="0" i="0">
                <a:solidFill>
                  <a:srgbClr val="0D1B2A"/>
                </a:solidFill>
                <a:latin typeface="Calibri" panose="020F0502020204030204"/>
              </a:rPr>
              <a:t>›  Auto-detect errors, warnings, and stack traces</a:t>
            </a:r>
            <a:endParaRPr sz="1250" b="0" i="0">
              <a:solidFill>
                <a:srgbClr val="0D1B2A"/>
              </a:solidFill>
              <a:latin typeface="Calibri" panose="020F0502020204030204"/>
            </a:endParaRPr>
          </a:p>
        </p:txBody>
      </p:sp>
      <p:sp>
        <p:nvSpPr>
          <p:cNvPr id="15" name="TextBox 14"/>
          <p:cNvSpPr txBox="1"/>
          <p:nvPr/>
        </p:nvSpPr>
        <p:spPr>
          <a:xfrm>
            <a:off x="457200" y="3072384"/>
            <a:ext cx="5212080" cy="347472"/>
          </a:xfrm>
          <a:prstGeom prst="rect">
            <a:avLst/>
          </a:prstGeom>
          <a:noFill/>
        </p:spPr>
        <p:txBody>
          <a:bodyPr wrap="square">
            <a:spAutoFit/>
          </a:bodyPr>
          <a:lstStyle/>
          <a:p>
            <a:pPr algn="l"/>
            <a:r>
              <a:rPr sz="1250" b="0" i="0">
                <a:solidFill>
                  <a:srgbClr val="0D1B2A"/>
                </a:solidFill>
                <a:latin typeface="Calibri" panose="020F0502020204030204"/>
              </a:rPr>
              <a:t>›  Send HTML email alerts when errors exceed threshold</a:t>
            </a:r>
            <a:endParaRPr sz="1250" b="0" i="0">
              <a:solidFill>
                <a:srgbClr val="0D1B2A"/>
              </a:solidFill>
              <a:latin typeface="Calibri" panose="020F0502020204030204"/>
            </a:endParaRPr>
          </a:p>
        </p:txBody>
      </p:sp>
      <p:sp>
        <p:nvSpPr>
          <p:cNvPr id="16" name="Rectangle 15"/>
          <p:cNvSpPr/>
          <p:nvPr/>
        </p:nvSpPr>
        <p:spPr>
          <a:xfrm>
            <a:off x="6153912" y="1417320"/>
            <a:ext cx="5440680" cy="21488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53912" y="1417320"/>
            <a:ext cx="5440680" cy="438912"/>
          </a:xfrm>
          <a:prstGeom prst="rect">
            <a:avLst/>
          </a:prstGeom>
          <a:solidFill>
            <a:srgbClr val="1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1472184"/>
            <a:ext cx="5212080" cy="347472"/>
          </a:xfrm>
          <a:prstGeom prst="rect">
            <a:avLst/>
          </a:prstGeom>
          <a:noFill/>
        </p:spPr>
        <p:txBody>
          <a:bodyPr wrap="square">
            <a:spAutoFit/>
          </a:bodyPr>
          <a:lstStyle/>
          <a:p>
            <a:pPr algn="l"/>
            <a:r>
              <a:rPr sz="1500" b="1" i="0">
                <a:solidFill>
                  <a:srgbClr val="FFFFFF"/>
                </a:solidFill>
                <a:latin typeface="Calibri" panose="020F0502020204030204"/>
              </a:rPr>
              <a:t>AI Document Q&amp;A</a:t>
            </a:r>
            <a:endParaRPr sz="1500" b="1" i="0">
              <a:solidFill>
                <a:srgbClr val="FFFFFF"/>
              </a:solidFill>
              <a:latin typeface="Calibri" panose="020F0502020204030204"/>
            </a:endParaRPr>
          </a:p>
        </p:txBody>
      </p:sp>
      <p:sp>
        <p:nvSpPr>
          <p:cNvPr id="19" name="TextBox 18"/>
          <p:cNvSpPr txBox="1"/>
          <p:nvPr/>
        </p:nvSpPr>
        <p:spPr>
          <a:xfrm>
            <a:off x="6291072" y="1947672"/>
            <a:ext cx="5212080" cy="347472"/>
          </a:xfrm>
          <a:prstGeom prst="rect">
            <a:avLst/>
          </a:prstGeom>
          <a:noFill/>
        </p:spPr>
        <p:txBody>
          <a:bodyPr wrap="square">
            <a:spAutoFit/>
          </a:bodyPr>
          <a:lstStyle/>
          <a:p>
            <a:pPr algn="l"/>
            <a:r>
              <a:rPr sz="1250" b="0" i="0">
                <a:solidFill>
                  <a:srgbClr val="0D1B2A"/>
                </a:solidFill>
                <a:latin typeface="Calibri" panose="020F0502020204030204"/>
              </a:rPr>
              <a:t>›  Upload PDF, Word, CSV, or log files</a:t>
            </a:r>
            <a:endParaRPr sz="1250" b="0" i="0">
              <a:solidFill>
                <a:srgbClr val="0D1B2A"/>
              </a:solidFill>
              <a:latin typeface="Calibri" panose="020F0502020204030204"/>
            </a:endParaRPr>
          </a:p>
        </p:txBody>
      </p:sp>
      <p:sp>
        <p:nvSpPr>
          <p:cNvPr id="20" name="TextBox 19"/>
          <p:cNvSpPr txBox="1"/>
          <p:nvPr/>
        </p:nvSpPr>
        <p:spPr>
          <a:xfrm>
            <a:off x="6291072" y="2322576"/>
            <a:ext cx="5212080" cy="347472"/>
          </a:xfrm>
          <a:prstGeom prst="rect">
            <a:avLst/>
          </a:prstGeom>
          <a:noFill/>
        </p:spPr>
        <p:txBody>
          <a:bodyPr wrap="square">
            <a:spAutoFit/>
          </a:bodyPr>
          <a:lstStyle/>
          <a:p>
            <a:pPr algn="l"/>
            <a:r>
              <a:rPr sz="1250" b="0" i="0">
                <a:solidFill>
                  <a:srgbClr val="0D1B2A"/>
                </a:solidFill>
                <a:latin typeface="Calibri" panose="020F0502020204030204"/>
              </a:rPr>
              <a:t>›  Auto-detects document type and surfaces key findings</a:t>
            </a:r>
            <a:endParaRPr sz="1250" b="0" i="0">
              <a:solidFill>
                <a:srgbClr val="0D1B2A"/>
              </a:solidFill>
              <a:latin typeface="Calibri" panose="020F0502020204030204"/>
            </a:endParaRPr>
          </a:p>
        </p:txBody>
      </p:sp>
      <p:sp>
        <p:nvSpPr>
          <p:cNvPr id="21" name="TextBox 20"/>
          <p:cNvSpPr txBox="1"/>
          <p:nvPr/>
        </p:nvSpPr>
        <p:spPr>
          <a:xfrm>
            <a:off x="6291072" y="2697480"/>
            <a:ext cx="5212080" cy="347472"/>
          </a:xfrm>
          <a:prstGeom prst="rect">
            <a:avLst/>
          </a:prstGeom>
          <a:noFill/>
        </p:spPr>
        <p:txBody>
          <a:bodyPr wrap="square">
            <a:spAutoFit/>
          </a:bodyPr>
          <a:lstStyle/>
          <a:p>
            <a:pPr algn="l"/>
            <a:r>
              <a:rPr sz="1250" b="0" i="0">
                <a:solidFill>
                  <a:srgbClr val="0D1B2A"/>
                </a:solidFill>
                <a:latin typeface="Calibri" panose="020F0502020204030204"/>
              </a:rPr>
              <a:t>›  Ask questions in plain English — get cited answers</a:t>
            </a:r>
            <a:endParaRPr sz="1250" b="0" i="0">
              <a:solidFill>
                <a:srgbClr val="0D1B2A"/>
              </a:solidFill>
              <a:latin typeface="Calibri" panose="020F0502020204030204"/>
            </a:endParaRPr>
          </a:p>
        </p:txBody>
      </p:sp>
      <p:sp>
        <p:nvSpPr>
          <p:cNvPr id="22" name="TextBox 21"/>
          <p:cNvSpPr txBox="1"/>
          <p:nvPr/>
        </p:nvSpPr>
        <p:spPr>
          <a:xfrm>
            <a:off x="6291072" y="3072384"/>
            <a:ext cx="5212080" cy="347472"/>
          </a:xfrm>
          <a:prstGeom prst="rect">
            <a:avLst/>
          </a:prstGeom>
          <a:noFill/>
        </p:spPr>
        <p:txBody>
          <a:bodyPr wrap="square">
            <a:spAutoFit/>
          </a:bodyPr>
          <a:lstStyle/>
          <a:p>
            <a:pPr algn="l"/>
            <a:r>
              <a:rPr sz="1250" b="0" i="0">
                <a:solidFill>
                  <a:srgbClr val="0D1B2A"/>
                </a:solidFill>
                <a:latin typeface="Calibri" panose="020F0502020204030204"/>
              </a:rPr>
              <a:t>›  Supports OpenAI (GPT-4o) and Anthropic (Claude)</a:t>
            </a:r>
            <a:endParaRPr sz="1250" b="0" i="0">
              <a:solidFill>
                <a:srgbClr val="0D1B2A"/>
              </a:solidFill>
              <a:latin typeface="Calibri" panose="020F0502020204030204"/>
            </a:endParaRPr>
          </a:p>
        </p:txBody>
      </p:sp>
      <p:sp>
        <p:nvSpPr>
          <p:cNvPr id="23" name="Rectangle 22"/>
          <p:cNvSpPr/>
          <p:nvPr/>
        </p:nvSpPr>
        <p:spPr>
          <a:xfrm>
            <a:off x="320040" y="3794760"/>
            <a:ext cx="5440680" cy="21488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94760"/>
            <a:ext cx="5440680" cy="438912"/>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849624"/>
            <a:ext cx="5212080" cy="347472"/>
          </a:xfrm>
          <a:prstGeom prst="rect">
            <a:avLst/>
          </a:prstGeom>
          <a:noFill/>
        </p:spPr>
        <p:txBody>
          <a:bodyPr wrap="square">
            <a:spAutoFit/>
          </a:bodyPr>
          <a:lstStyle/>
          <a:p>
            <a:pPr algn="l"/>
            <a:r>
              <a:rPr sz="1500" b="1" i="0">
                <a:solidFill>
                  <a:srgbClr val="FFFFFF"/>
                </a:solidFill>
                <a:latin typeface="Calibri" panose="020F0502020204030204"/>
              </a:rPr>
              <a:t>Git + CI/CD Integration</a:t>
            </a:r>
            <a:endParaRPr sz="1500" b="1" i="0">
              <a:solidFill>
                <a:srgbClr val="FFFFFF"/>
              </a:solidFill>
              <a:latin typeface="Calibri" panose="020F0502020204030204"/>
            </a:endParaRPr>
          </a:p>
        </p:txBody>
      </p:sp>
      <p:sp>
        <p:nvSpPr>
          <p:cNvPr id="26" name="TextBox 25"/>
          <p:cNvSpPr txBox="1"/>
          <p:nvPr/>
        </p:nvSpPr>
        <p:spPr>
          <a:xfrm>
            <a:off x="457200" y="4325112"/>
            <a:ext cx="5212080" cy="283210"/>
          </a:xfrm>
          <a:prstGeom prst="rect">
            <a:avLst/>
          </a:prstGeom>
          <a:noFill/>
        </p:spPr>
        <p:txBody>
          <a:bodyPr wrap="square">
            <a:spAutoFit/>
          </a:bodyPr>
          <a:lstStyle/>
          <a:p>
            <a:pPr algn="l"/>
            <a:r>
              <a:rPr sz="1250" b="0" i="0">
                <a:solidFill>
                  <a:srgbClr val="0D1B2A"/>
                </a:solidFill>
                <a:latin typeface="Calibri" panose="020F0502020204030204"/>
              </a:rPr>
              <a:t>›  Connect a project's GitLab URL</a:t>
            </a:r>
            <a:endParaRPr sz="1250" b="0" i="0">
              <a:solidFill>
                <a:srgbClr val="0D1B2A"/>
              </a:solidFill>
              <a:latin typeface="Calibri" panose="020F0502020204030204"/>
            </a:endParaRPr>
          </a:p>
        </p:txBody>
      </p:sp>
      <p:sp>
        <p:nvSpPr>
          <p:cNvPr id="27" name="TextBox 26"/>
          <p:cNvSpPr txBox="1"/>
          <p:nvPr/>
        </p:nvSpPr>
        <p:spPr>
          <a:xfrm>
            <a:off x="457200" y="4700016"/>
            <a:ext cx="5212080" cy="347472"/>
          </a:xfrm>
          <a:prstGeom prst="rect">
            <a:avLst/>
          </a:prstGeom>
          <a:noFill/>
        </p:spPr>
        <p:txBody>
          <a:bodyPr wrap="square">
            <a:spAutoFit/>
          </a:bodyPr>
          <a:lstStyle/>
          <a:p>
            <a:pPr algn="l"/>
            <a:r>
              <a:rPr sz="1250" b="0" i="0">
                <a:solidFill>
                  <a:srgbClr val="0D1B2A"/>
                </a:solidFill>
                <a:latin typeface="Calibri" panose="020F0502020204030204"/>
              </a:rPr>
              <a:t>›  Auto-detect type: Spring Boot JAR/WAR, React, Angular</a:t>
            </a:r>
            <a:endParaRPr sz="1250" b="0" i="0">
              <a:solidFill>
                <a:srgbClr val="0D1B2A"/>
              </a:solidFill>
              <a:latin typeface="Calibri" panose="020F0502020204030204"/>
            </a:endParaRPr>
          </a:p>
        </p:txBody>
      </p:sp>
      <p:sp>
        <p:nvSpPr>
          <p:cNvPr id="28" name="TextBox 27"/>
          <p:cNvSpPr txBox="1"/>
          <p:nvPr/>
        </p:nvSpPr>
        <p:spPr>
          <a:xfrm>
            <a:off x="457200" y="5074920"/>
            <a:ext cx="5212080" cy="283210"/>
          </a:xfrm>
          <a:prstGeom prst="rect">
            <a:avLst/>
          </a:prstGeom>
          <a:noFill/>
        </p:spPr>
        <p:txBody>
          <a:bodyPr wrap="square">
            <a:spAutoFit/>
          </a:bodyPr>
          <a:lstStyle/>
          <a:p>
            <a:pPr algn="l"/>
            <a:r>
              <a:rPr sz="1250" b="0" i="0">
                <a:solidFill>
                  <a:srgbClr val="0D1B2A"/>
                </a:solidFill>
                <a:latin typeface="Calibri" panose="020F0502020204030204"/>
              </a:rPr>
              <a:t>›  Trigger GitLab CI pipelines</a:t>
            </a:r>
            <a:endParaRPr sz="1250" b="0" i="0">
              <a:solidFill>
                <a:srgbClr val="0D1B2A"/>
              </a:solidFill>
              <a:latin typeface="Calibri" panose="020F0502020204030204"/>
            </a:endParaRPr>
          </a:p>
        </p:txBody>
      </p:sp>
      <p:sp>
        <p:nvSpPr>
          <p:cNvPr id="29" name="TextBox 28"/>
          <p:cNvSpPr txBox="1"/>
          <p:nvPr/>
        </p:nvSpPr>
        <p:spPr>
          <a:xfrm>
            <a:off x="457200" y="5449824"/>
            <a:ext cx="5212080" cy="347472"/>
          </a:xfrm>
          <a:prstGeom prst="rect">
            <a:avLst/>
          </a:prstGeom>
          <a:noFill/>
        </p:spPr>
        <p:txBody>
          <a:bodyPr wrap="square">
            <a:spAutoFit/>
          </a:bodyPr>
          <a:lstStyle/>
          <a:p>
            <a:pPr algn="l"/>
            <a:r>
              <a:rPr sz="1250" b="0" i="0">
                <a:solidFill>
                  <a:srgbClr val="0D1B2A"/>
                </a:solidFill>
                <a:latin typeface="Calibri" panose="020F0502020204030204"/>
              </a:rPr>
              <a:t>›  Fall back to SSH build + deploy if no pipeline exists</a:t>
            </a:r>
            <a:endParaRPr sz="1250" b="0" i="0">
              <a:solidFill>
                <a:srgbClr val="0D1B2A"/>
              </a:solidFill>
              <a:latin typeface="Calibri" panose="020F0502020204030204"/>
            </a:endParaRPr>
          </a:p>
        </p:txBody>
      </p:sp>
      <p:sp>
        <p:nvSpPr>
          <p:cNvPr id="30" name="Rectangle 29"/>
          <p:cNvSpPr/>
          <p:nvPr/>
        </p:nvSpPr>
        <p:spPr>
          <a:xfrm>
            <a:off x="6153912" y="3794760"/>
            <a:ext cx="5440680" cy="21488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53912" y="3794760"/>
            <a:ext cx="5440680" cy="438912"/>
          </a:xfrm>
          <a:prstGeom prst="rect">
            <a:avLst/>
          </a:prstGeom>
          <a:solidFill>
            <a:srgbClr val="6A1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91072" y="3849624"/>
            <a:ext cx="5212080" cy="347472"/>
          </a:xfrm>
          <a:prstGeom prst="rect">
            <a:avLst/>
          </a:prstGeom>
          <a:noFill/>
        </p:spPr>
        <p:txBody>
          <a:bodyPr wrap="square">
            <a:spAutoFit/>
          </a:bodyPr>
          <a:lstStyle/>
          <a:p>
            <a:pPr algn="l"/>
            <a:r>
              <a:rPr sz="1500" b="1" i="0">
                <a:solidFill>
                  <a:srgbClr val="FFFFFF"/>
                </a:solidFill>
                <a:latin typeface="Calibri" panose="020F0502020204030204"/>
              </a:rPr>
              <a:t>IDE Hook (REST API)</a:t>
            </a:r>
            <a:endParaRPr sz="1500" b="1" i="0">
              <a:solidFill>
                <a:srgbClr val="FFFFFF"/>
              </a:solidFill>
              <a:latin typeface="Calibri" panose="020F0502020204030204"/>
            </a:endParaRPr>
          </a:p>
        </p:txBody>
      </p:sp>
      <p:sp>
        <p:nvSpPr>
          <p:cNvPr id="33" name="TextBox 32"/>
          <p:cNvSpPr txBox="1"/>
          <p:nvPr/>
        </p:nvSpPr>
        <p:spPr>
          <a:xfrm>
            <a:off x="6291072" y="4325112"/>
            <a:ext cx="5212080" cy="347472"/>
          </a:xfrm>
          <a:prstGeom prst="rect">
            <a:avLst/>
          </a:prstGeom>
          <a:noFill/>
        </p:spPr>
        <p:txBody>
          <a:bodyPr wrap="square">
            <a:spAutoFit/>
          </a:bodyPr>
          <a:lstStyle/>
          <a:p>
            <a:pPr algn="l"/>
            <a:r>
              <a:rPr sz="1250" b="0" i="0">
                <a:solidFill>
                  <a:srgbClr val="0D1B2A"/>
                </a:solidFill>
                <a:latin typeface="Calibri" panose="020F0502020204030204"/>
              </a:rPr>
              <a:t>›  Local REST API on localhost:8000</a:t>
            </a:r>
            <a:endParaRPr sz="1250" b="0" i="0">
              <a:solidFill>
                <a:srgbClr val="0D1B2A"/>
              </a:solidFill>
              <a:latin typeface="Calibri" panose="020F0502020204030204"/>
            </a:endParaRPr>
          </a:p>
        </p:txBody>
      </p:sp>
      <p:sp>
        <p:nvSpPr>
          <p:cNvPr id="34" name="TextBox 33"/>
          <p:cNvSpPr txBox="1"/>
          <p:nvPr/>
        </p:nvSpPr>
        <p:spPr>
          <a:xfrm>
            <a:off x="6291072" y="4700016"/>
            <a:ext cx="5212080" cy="347472"/>
          </a:xfrm>
          <a:prstGeom prst="rect">
            <a:avLst/>
          </a:prstGeom>
          <a:noFill/>
        </p:spPr>
        <p:txBody>
          <a:bodyPr wrap="square">
            <a:spAutoFit/>
          </a:bodyPr>
          <a:lstStyle/>
          <a:p>
            <a:pPr algn="l"/>
            <a:r>
              <a:rPr sz="1250" b="0" i="0">
                <a:solidFill>
                  <a:srgbClr val="0D1B2A"/>
                </a:solidFill>
                <a:latin typeface="Calibri" panose="020F0502020204030204"/>
              </a:rPr>
              <a:t>›  VS Code, IntelliJ, Visual Studio can connect directly</a:t>
            </a:r>
            <a:endParaRPr sz="1250" b="0" i="0">
              <a:solidFill>
                <a:srgbClr val="0D1B2A"/>
              </a:solidFill>
              <a:latin typeface="Calibri" panose="020F0502020204030204"/>
            </a:endParaRPr>
          </a:p>
        </p:txBody>
      </p:sp>
      <p:sp>
        <p:nvSpPr>
          <p:cNvPr id="35" name="TextBox 34"/>
          <p:cNvSpPr txBox="1"/>
          <p:nvPr/>
        </p:nvSpPr>
        <p:spPr>
          <a:xfrm>
            <a:off x="6291072" y="5074920"/>
            <a:ext cx="5212080" cy="347472"/>
          </a:xfrm>
          <a:prstGeom prst="rect">
            <a:avLst/>
          </a:prstGeom>
          <a:noFill/>
        </p:spPr>
        <p:txBody>
          <a:bodyPr wrap="square">
            <a:spAutoFit/>
          </a:bodyPr>
          <a:lstStyle/>
          <a:p>
            <a:pPr algn="l"/>
            <a:r>
              <a:rPr sz="1250" b="0" i="0">
                <a:solidFill>
                  <a:srgbClr val="0D1B2A"/>
                </a:solidFill>
                <a:latin typeface="Calibri" panose="020F0502020204030204"/>
              </a:rPr>
              <a:t>›  Send a log or document — get AI analysis inline</a:t>
            </a:r>
            <a:endParaRPr sz="1250" b="0" i="0">
              <a:solidFill>
                <a:srgbClr val="0D1B2A"/>
              </a:solidFill>
              <a:latin typeface="Calibri" panose="020F0502020204030204"/>
            </a:endParaRPr>
          </a:p>
        </p:txBody>
      </p:sp>
      <p:sp>
        <p:nvSpPr>
          <p:cNvPr id="36" name="TextBox 35"/>
          <p:cNvSpPr txBox="1"/>
          <p:nvPr/>
        </p:nvSpPr>
        <p:spPr>
          <a:xfrm>
            <a:off x="6291072" y="5449824"/>
            <a:ext cx="5212080" cy="347472"/>
          </a:xfrm>
          <a:prstGeom prst="rect">
            <a:avLst/>
          </a:prstGeom>
          <a:noFill/>
        </p:spPr>
        <p:txBody>
          <a:bodyPr wrap="square">
            <a:spAutoFit/>
          </a:bodyPr>
          <a:lstStyle/>
          <a:p>
            <a:pPr algn="l"/>
            <a:r>
              <a:rPr sz="1250" b="0" i="0">
                <a:solidFill>
                  <a:srgbClr val="0D1B2A"/>
                </a:solidFill>
                <a:latin typeface="Calibri" panose="020F0502020204030204"/>
              </a:rPr>
              <a:t>›  No context switching — stay in your IDE</a:t>
            </a:r>
            <a:endParaRPr sz="1250" b="0" i="0">
              <a:solidFill>
                <a:srgbClr val="0D1B2A"/>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144000" cy="640080"/>
          </a:xfrm>
          <a:prstGeom prst="rect">
            <a:avLst/>
          </a:prstGeom>
          <a:noFill/>
        </p:spPr>
        <p:txBody>
          <a:bodyPr wrap="square">
            <a:spAutoFit/>
          </a:bodyPr>
          <a:lstStyle/>
          <a:p>
            <a:pPr algn="l"/>
            <a:r>
              <a:rPr sz="2800" b="1" i="0">
                <a:solidFill>
                  <a:srgbClr val="FFFFFF"/>
                </a:solidFill>
                <a:latin typeface="Calibri" panose="020F0502020204030204"/>
              </a:rPr>
              <a:t>Expected Impact</a:t>
            </a:r>
            <a:endParaRPr sz="2800" b="1" i="0">
              <a:solidFill>
                <a:srgbClr val="FFFFFF"/>
              </a:solidFill>
              <a:latin typeface="Calibri" panose="020F0502020204030204"/>
            </a:endParaRPr>
          </a:p>
        </p:txBody>
      </p:sp>
      <p:sp>
        <p:nvSpPr>
          <p:cNvPr id="5" name="TextBox 4"/>
          <p:cNvSpPr txBox="1"/>
          <p:nvPr/>
        </p:nvSpPr>
        <p:spPr>
          <a:xfrm>
            <a:off x="411480" y="713232"/>
            <a:ext cx="10515600" cy="411480"/>
          </a:xfrm>
          <a:prstGeom prst="rect">
            <a:avLst/>
          </a:prstGeom>
          <a:noFill/>
        </p:spPr>
        <p:txBody>
          <a:bodyPr wrap="square">
            <a:spAutoFit/>
          </a:bodyPr>
          <a:lstStyle/>
          <a:p>
            <a:pPr algn="l"/>
            <a:r>
              <a:rPr sz="1400" b="0" i="0">
                <a:solidFill>
                  <a:srgbClr val="AAC4E8"/>
                </a:solidFill>
                <a:latin typeface="Calibri" panose="020F0502020204030204"/>
              </a:rPr>
              <a:t>Benefits per team</a:t>
            </a:r>
            <a:endParaRPr sz="1400" b="0" i="0">
              <a:solidFill>
                <a:srgbClr val="AAC4E8"/>
              </a:solidFill>
              <a:latin typeface="Calibri" panose="020F0502020204030204"/>
            </a:endParaRPr>
          </a:p>
        </p:txBody>
      </p:sp>
      <p:sp>
        <p:nvSpPr>
          <p:cNvPr id="6" name="Rectangle 5"/>
          <p:cNvSpPr/>
          <p:nvPr/>
        </p:nvSpPr>
        <p:spPr>
          <a:xfrm>
            <a:off x="0" y="1234440"/>
            <a:ext cx="12188952" cy="54864"/>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65392"/>
            <a:ext cx="12188952" cy="292608"/>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444625"/>
            <a:ext cx="1691640" cy="936625"/>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857248"/>
            <a:ext cx="1691640" cy="411480"/>
          </a:xfrm>
          <a:prstGeom prst="rect">
            <a:avLst/>
          </a:prstGeom>
          <a:noFill/>
        </p:spPr>
        <p:txBody>
          <a:bodyPr wrap="square">
            <a:spAutoFit/>
          </a:bodyPr>
          <a:lstStyle/>
          <a:p>
            <a:pPr algn="ctr"/>
            <a:r>
              <a:rPr sz="1400" b="1" i="0">
                <a:solidFill>
                  <a:srgbClr val="FFFFFF"/>
                </a:solidFill>
                <a:latin typeface="Calibri" panose="020F0502020204030204"/>
              </a:rPr>
              <a:t>Development Team</a:t>
            </a:r>
            <a:endParaRPr sz="1400" b="1" i="0">
              <a:solidFill>
                <a:srgbClr val="FFFFFF"/>
              </a:solidFill>
              <a:latin typeface="Calibri" panose="020F0502020204030204"/>
            </a:endParaRPr>
          </a:p>
        </p:txBody>
      </p:sp>
      <p:sp>
        <p:nvSpPr>
          <p:cNvPr id="11" name="Rectangle 10"/>
          <p:cNvSpPr/>
          <p:nvPr/>
        </p:nvSpPr>
        <p:spPr>
          <a:xfrm>
            <a:off x="2011680" y="1444625"/>
            <a:ext cx="9857105" cy="93599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76145" y="1609090"/>
            <a:ext cx="9601200" cy="745490"/>
          </a:xfrm>
          <a:prstGeom prst="rect">
            <a:avLst/>
          </a:prstGeom>
          <a:noFill/>
        </p:spPr>
        <p:txBody>
          <a:bodyPr wrap="square">
            <a:noAutofit/>
          </a:bodyPr>
          <a:lstStyle/>
          <a:p>
            <a:pPr algn="l"/>
            <a:r>
              <a:rPr sz="1350" b="0" i="0">
                <a:solidFill>
                  <a:srgbClr val="0D1B2A"/>
                </a:solidFill>
                <a:latin typeface="Calibri" panose="020F0502020204030204"/>
              </a:rPr>
              <a:t>Errors surfaced automatically — no manual log tailing or SSH sessions needed. Log analysis and document Q&amp;A available directly inside VS Code or IntelliJ.</a:t>
            </a:r>
            <a:endParaRPr sz="1350" b="0" i="0">
              <a:solidFill>
                <a:srgbClr val="0D1B2A"/>
              </a:solidFill>
              <a:latin typeface="Calibri" panose="020F0502020204030204"/>
            </a:endParaRPr>
          </a:p>
        </p:txBody>
      </p:sp>
      <p:sp>
        <p:nvSpPr>
          <p:cNvPr id="14" name="Rectangle 13"/>
          <p:cNvSpPr/>
          <p:nvPr/>
        </p:nvSpPr>
        <p:spPr>
          <a:xfrm>
            <a:off x="320040" y="2564765"/>
            <a:ext cx="1691640" cy="764540"/>
          </a:xfrm>
          <a:prstGeom prst="rect">
            <a:avLst/>
          </a:prstGeom>
          <a:solidFill>
            <a:srgbClr val="1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2701417"/>
            <a:ext cx="1691640" cy="521970"/>
          </a:xfrm>
          <a:prstGeom prst="rect">
            <a:avLst/>
          </a:prstGeom>
          <a:noFill/>
        </p:spPr>
        <p:txBody>
          <a:bodyPr wrap="square">
            <a:spAutoFit/>
          </a:bodyPr>
          <a:lstStyle/>
          <a:p>
            <a:pPr algn="ctr"/>
            <a:r>
              <a:rPr lang="en-US" sz="1400" b="1" i="0">
                <a:solidFill>
                  <a:srgbClr val="FFFFFF"/>
                </a:solidFill>
                <a:latin typeface="Calibri" panose="020F0502020204030204"/>
              </a:rPr>
              <a:t>Developers</a:t>
            </a:r>
            <a:r>
              <a:rPr sz="1400" b="1" i="0">
                <a:solidFill>
                  <a:srgbClr val="FFFFFF"/>
                </a:solidFill>
                <a:latin typeface="Calibri" panose="020F0502020204030204"/>
              </a:rPr>
              <a:t> / Operations</a:t>
            </a:r>
            <a:endParaRPr sz="1400" b="1" i="0">
              <a:solidFill>
                <a:srgbClr val="FFFFFF"/>
              </a:solidFill>
              <a:latin typeface="Calibri" panose="020F0502020204030204"/>
            </a:endParaRPr>
          </a:p>
        </p:txBody>
      </p:sp>
      <p:sp>
        <p:nvSpPr>
          <p:cNvPr id="16" name="Rectangle 15"/>
          <p:cNvSpPr/>
          <p:nvPr/>
        </p:nvSpPr>
        <p:spPr>
          <a:xfrm>
            <a:off x="2011680" y="2556510"/>
            <a:ext cx="9857105" cy="762635"/>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807" y="2570353"/>
            <a:ext cx="9601200" cy="850392"/>
          </a:xfrm>
          <a:prstGeom prst="rect">
            <a:avLst/>
          </a:prstGeom>
          <a:noFill/>
        </p:spPr>
        <p:txBody>
          <a:bodyPr wrap="square">
            <a:spAutoFit/>
          </a:bodyPr>
          <a:lstStyle/>
          <a:p>
            <a:pPr algn="l"/>
            <a:r>
              <a:rPr sz="1350" b="0" i="0">
                <a:solidFill>
                  <a:srgbClr val="0D1B2A"/>
                </a:solidFill>
                <a:latin typeface="Calibri" panose="020F0502020204030204"/>
              </a:rPr>
              <a:t>Scheduled monitoring of all Spring Boot and Apache servers from one dashboard. One-click deployment triggering CI/CD pipelines or SSH build+deploy.</a:t>
            </a:r>
            <a:endParaRPr sz="1350" b="0" i="0">
              <a:solidFill>
                <a:srgbClr val="0D1B2A"/>
              </a:solidFill>
              <a:latin typeface="Calibri" panose="020F0502020204030204"/>
            </a:endParaRPr>
          </a:p>
        </p:txBody>
      </p:sp>
      <p:sp>
        <p:nvSpPr>
          <p:cNvPr id="19" name="Rectangle 18"/>
          <p:cNvSpPr/>
          <p:nvPr/>
        </p:nvSpPr>
        <p:spPr>
          <a:xfrm>
            <a:off x="320040" y="3568700"/>
            <a:ext cx="1691640" cy="705485"/>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3828161"/>
            <a:ext cx="1691640" cy="411480"/>
          </a:xfrm>
          <a:prstGeom prst="rect">
            <a:avLst/>
          </a:prstGeom>
          <a:noFill/>
        </p:spPr>
        <p:txBody>
          <a:bodyPr wrap="square">
            <a:spAutoFit/>
          </a:bodyPr>
          <a:lstStyle/>
          <a:p>
            <a:pPr algn="ctr"/>
            <a:r>
              <a:rPr sz="1400" b="1" i="0">
                <a:solidFill>
                  <a:srgbClr val="FFFFFF"/>
                </a:solidFill>
                <a:latin typeface="Calibri" panose="020F0502020204030204"/>
              </a:rPr>
              <a:t>Support Team</a:t>
            </a:r>
            <a:endParaRPr sz="1400" b="1" i="0">
              <a:solidFill>
                <a:srgbClr val="FFFFFF"/>
              </a:solidFill>
              <a:latin typeface="Calibri" panose="020F0502020204030204"/>
            </a:endParaRPr>
          </a:p>
        </p:txBody>
      </p:sp>
      <p:sp>
        <p:nvSpPr>
          <p:cNvPr id="21" name="Rectangle 20"/>
          <p:cNvSpPr/>
          <p:nvPr/>
        </p:nvSpPr>
        <p:spPr>
          <a:xfrm>
            <a:off x="2011680" y="3543935"/>
            <a:ext cx="9857105" cy="73533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75942" y="3722497"/>
            <a:ext cx="9601200" cy="506730"/>
          </a:xfrm>
          <a:prstGeom prst="rect">
            <a:avLst/>
          </a:prstGeom>
          <a:noFill/>
        </p:spPr>
        <p:txBody>
          <a:bodyPr wrap="square">
            <a:spAutoFit/>
          </a:bodyPr>
          <a:lstStyle/>
          <a:p>
            <a:pPr algn="l"/>
            <a:r>
              <a:rPr sz="1350" b="0" i="0">
                <a:solidFill>
                  <a:srgbClr val="0D1B2A"/>
                </a:solidFill>
                <a:latin typeface="Calibri" panose="020F0502020204030204"/>
              </a:rPr>
              <a:t>Instant answers from design specs, </a:t>
            </a:r>
            <a:r>
              <a:rPr lang="en-US" sz="1350" b="0" i="0">
                <a:solidFill>
                  <a:srgbClr val="0D1B2A"/>
                </a:solidFill>
                <a:latin typeface="Calibri" panose="020F0502020204030204"/>
              </a:rPr>
              <a:t>license</a:t>
            </a:r>
            <a:r>
              <a:rPr sz="1350" b="0" i="0">
                <a:solidFill>
                  <a:srgbClr val="0D1B2A"/>
                </a:solidFill>
                <a:latin typeface="Calibri" panose="020F0502020204030204"/>
              </a:rPr>
              <a:t>, and support runbooks in plain English. No need to read entire documents to find a single answer.</a:t>
            </a:r>
            <a:endParaRPr sz="1350" b="0" i="0">
              <a:solidFill>
                <a:srgbClr val="0D1B2A"/>
              </a:solidFill>
              <a:latin typeface="Calibri" panose="020F0502020204030204"/>
            </a:endParaRPr>
          </a:p>
        </p:txBody>
      </p:sp>
      <p:sp>
        <p:nvSpPr>
          <p:cNvPr id="24" name="Rectangle 23"/>
          <p:cNvSpPr/>
          <p:nvPr/>
        </p:nvSpPr>
        <p:spPr>
          <a:xfrm>
            <a:off x="320040" y="4462399"/>
            <a:ext cx="1691640" cy="1078992"/>
          </a:xfrm>
          <a:prstGeom prst="rect">
            <a:avLst/>
          </a:prstGeom>
          <a:solidFill>
            <a:srgbClr val="6A1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5588000"/>
            <a:ext cx="1691640" cy="411480"/>
          </a:xfrm>
          <a:prstGeom prst="rect">
            <a:avLst/>
          </a:prstGeom>
          <a:noFill/>
        </p:spPr>
        <p:txBody>
          <a:bodyPr wrap="square">
            <a:spAutoFit/>
          </a:bodyPr>
          <a:lstStyle/>
          <a:p>
            <a:pPr algn="ctr"/>
            <a:r>
              <a:rPr sz="1400" b="1" i="0">
                <a:solidFill>
                  <a:srgbClr val="FFFFFF"/>
                </a:solidFill>
                <a:latin typeface="Calibri" panose="020F0502020204030204"/>
              </a:rPr>
              <a:t>Business</a:t>
            </a:r>
            <a:endParaRPr sz="1400" b="1" i="0">
              <a:solidFill>
                <a:srgbClr val="FFFFFF"/>
              </a:solidFill>
              <a:latin typeface="Calibri" panose="020F0502020204030204"/>
            </a:endParaRPr>
          </a:p>
        </p:txBody>
      </p:sp>
      <p:sp>
        <p:nvSpPr>
          <p:cNvPr id="26" name="Rectangle 25"/>
          <p:cNvSpPr/>
          <p:nvPr/>
        </p:nvSpPr>
        <p:spPr>
          <a:xfrm>
            <a:off x="2011680" y="4473829"/>
            <a:ext cx="9857232" cy="10789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75942" y="4557776"/>
            <a:ext cx="9601200" cy="850392"/>
          </a:xfrm>
          <a:prstGeom prst="rect">
            <a:avLst/>
          </a:prstGeom>
          <a:noFill/>
        </p:spPr>
        <p:txBody>
          <a:bodyPr wrap="square">
            <a:spAutoFit/>
          </a:bodyPr>
          <a:lstStyle/>
          <a:p>
            <a:pPr algn="l"/>
            <a:r>
              <a:rPr sz="1350" b="0" i="0">
                <a:solidFill>
                  <a:srgbClr val="0D1B2A"/>
                </a:solidFill>
                <a:latin typeface="Calibri" panose="020F0502020204030204"/>
              </a:rPr>
              <a:t>Faster incident response and fewer missed production errors. Reduced developer frustration and context switching overhead.</a:t>
            </a:r>
            <a:endParaRPr sz="1350" b="0" i="0">
              <a:solidFill>
                <a:srgbClr val="0D1B2A"/>
              </a:solidFill>
              <a:latin typeface="Calibri" panose="020F0502020204030204"/>
            </a:endParaRPr>
          </a:p>
        </p:txBody>
      </p:sp>
      <p:sp>
        <p:nvSpPr>
          <p:cNvPr id="29" name="Rectangle 28"/>
          <p:cNvSpPr/>
          <p:nvPr/>
        </p:nvSpPr>
        <p:spPr>
          <a:xfrm>
            <a:off x="0" y="5687568"/>
            <a:ext cx="12188952" cy="804672"/>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736719"/>
            <a:ext cx="2194560" cy="411480"/>
          </a:xfrm>
          <a:prstGeom prst="rect">
            <a:avLst/>
          </a:prstGeom>
          <a:noFill/>
        </p:spPr>
        <p:txBody>
          <a:bodyPr wrap="square">
            <a:spAutoFit/>
          </a:bodyPr>
          <a:lstStyle/>
          <a:p>
            <a:pPr algn="l"/>
            <a:r>
              <a:rPr sz="2000" b="1" i="0">
                <a:solidFill>
                  <a:srgbClr val="FFFFFF"/>
                </a:solidFill>
                <a:latin typeface="Calibri" panose="020F0502020204030204"/>
              </a:rPr>
              <a:t>Automated</a:t>
            </a:r>
            <a:endParaRPr sz="2000" b="1" i="0">
              <a:solidFill>
                <a:srgbClr val="FFFFFF"/>
              </a:solidFill>
              <a:latin typeface="Calibri" panose="020F0502020204030204"/>
            </a:endParaRPr>
          </a:p>
        </p:txBody>
      </p:sp>
      <p:sp>
        <p:nvSpPr>
          <p:cNvPr id="31" name="TextBox 30"/>
          <p:cNvSpPr txBox="1"/>
          <p:nvPr/>
        </p:nvSpPr>
        <p:spPr>
          <a:xfrm>
            <a:off x="457200" y="6108192"/>
            <a:ext cx="2194560" cy="292608"/>
          </a:xfrm>
          <a:prstGeom prst="rect">
            <a:avLst/>
          </a:prstGeom>
          <a:noFill/>
        </p:spPr>
        <p:txBody>
          <a:bodyPr wrap="square">
            <a:spAutoFit/>
          </a:bodyPr>
          <a:lstStyle/>
          <a:p>
            <a:pPr algn="l"/>
            <a:r>
              <a:rPr sz="1100" b="0" i="0">
                <a:solidFill>
                  <a:srgbClr val="AAC4E8"/>
                </a:solidFill>
                <a:latin typeface="Calibri" panose="020F0502020204030204"/>
              </a:rPr>
              <a:t>Error Detection</a:t>
            </a:r>
            <a:endParaRPr sz="1100" b="0" i="0">
              <a:solidFill>
                <a:srgbClr val="AAC4E8"/>
              </a:solidFill>
              <a:latin typeface="Calibri" panose="020F0502020204030204"/>
            </a:endParaRPr>
          </a:p>
        </p:txBody>
      </p:sp>
      <p:sp>
        <p:nvSpPr>
          <p:cNvPr id="32" name="TextBox 31"/>
          <p:cNvSpPr txBox="1"/>
          <p:nvPr/>
        </p:nvSpPr>
        <p:spPr>
          <a:xfrm>
            <a:off x="2788920" y="5724144"/>
            <a:ext cx="2194560" cy="411480"/>
          </a:xfrm>
          <a:prstGeom prst="rect">
            <a:avLst/>
          </a:prstGeom>
          <a:noFill/>
        </p:spPr>
        <p:txBody>
          <a:bodyPr wrap="square">
            <a:spAutoFit/>
          </a:bodyPr>
          <a:lstStyle/>
          <a:p>
            <a:pPr algn="l"/>
            <a:r>
              <a:rPr sz="2000" b="1" i="0">
                <a:solidFill>
                  <a:srgbClr val="FFFFFF"/>
                </a:solidFill>
                <a:latin typeface="Calibri" panose="020F0502020204030204"/>
              </a:rPr>
              <a:t>0 SSH</a:t>
            </a:r>
            <a:endParaRPr sz="2000" b="1" i="0">
              <a:solidFill>
                <a:srgbClr val="FFFFFF"/>
              </a:solidFill>
              <a:latin typeface="Calibri" panose="020F0502020204030204"/>
            </a:endParaRPr>
          </a:p>
        </p:txBody>
      </p:sp>
      <p:sp>
        <p:nvSpPr>
          <p:cNvPr id="33" name="TextBox 32"/>
          <p:cNvSpPr txBox="1"/>
          <p:nvPr/>
        </p:nvSpPr>
        <p:spPr>
          <a:xfrm>
            <a:off x="2788920" y="6108192"/>
            <a:ext cx="2194560" cy="292608"/>
          </a:xfrm>
          <a:prstGeom prst="rect">
            <a:avLst/>
          </a:prstGeom>
          <a:noFill/>
        </p:spPr>
        <p:txBody>
          <a:bodyPr wrap="square">
            <a:spAutoFit/>
          </a:bodyPr>
          <a:lstStyle/>
          <a:p>
            <a:pPr algn="l"/>
            <a:r>
              <a:rPr sz="1100" b="0" i="0">
                <a:solidFill>
                  <a:srgbClr val="AAC4E8"/>
                </a:solidFill>
                <a:latin typeface="Calibri" panose="020F0502020204030204"/>
              </a:rPr>
              <a:t>Sessions to check logs</a:t>
            </a:r>
            <a:endParaRPr sz="1100" b="0" i="0">
              <a:solidFill>
                <a:srgbClr val="AAC4E8"/>
              </a:solidFill>
              <a:latin typeface="Calibri" panose="020F0502020204030204"/>
            </a:endParaRPr>
          </a:p>
        </p:txBody>
      </p:sp>
      <p:sp>
        <p:nvSpPr>
          <p:cNvPr id="34" name="TextBox 33"/>
          <p:cNvSpPr txBox="1"/>
          <p:nvPr/>
        </p:nvSpPr>
        <p:spPr>
          <a:xfrm>
            <a:off x="5120640" y="5724144"/>
            <a:ext cx="2194560" cy="411480"/>
          </a:xfrm>
          <a:prstGeom prst="rect">
            <a:avLst/>
          </a:prstGeom>
          <a:noFill/>
        </p:spPr>
        <p:txBody>
          <a:bodyPr wrap="square">
            <a:spAutoFit/>
          </a:bodyPr>
          <a:lstStyle/>
          <a:p>
            <a:pPr algn="l"/>
            <a:r>
              <a:rPr sz="2000" b="1" i="0">
                <a:solidFill>
                  <a:srgbClr val="FFFFFF"/>
                </a:solidFill>
                <a:latin typeface="Calibri" panose="020F0502020204030204"/>
              </a:rPr>
              <a:t>4 IDEs</a:t>
            </a:r>
            <a:endParaRPr sz="2000" b="1" i="0">
              <a:solidFill>
                <a:srgbClr val="FFFFFF"/>
              </a:solidFill>
              <a:latin typeface="Calibri" panose="020F0502020204030204"/>
            </a:endParaRPr>
          </a:p>
        </p:txBody>
      </p:sp>
      <p:sp>
        <p:nvSpPr>
          <p:cNvPr id="35" name="TextBox 34"/>
          <p:cNvSpPr txBox="1"/>
          <p:nvPr/>
        </p:nvSpPr>
        <p:spPr>
          <a:xfrm>
            <a:off x="5120640" y="6108192"/>
            <a:ext cx="2194560" cy="292608"/>
          </a:xfrm>
          <a:prstGeom prst="rect">
            <a:avLst/>
          </a:prstGeom>
          <a:noFill/>
        </p:spPr>
        <p:txBody>
          <a:bodyPr wrap="square">
            <a:spAutoFit/>
          </a:bodyPr>
          <a:lstStyle/>
          <a:p>
            <a:pPr algn="l"/>
            <a:r>
              <a:rPr sz="1100" b="0" i="0">
                <a:solidFill>
                  <a:srgbClr val="AAC4E8"/>
                </a:solidFill>
                <a:latin typeface="Calibri" panose="020F0502020204030204"/>
              </a:rPr>
              <a:t>VS Code, IntelliJ, Visual Studio</a:t>
            </a:r>
            <a:endParaRPr sz="1100" b="0" i="0">
              <a:solidFill>
                <a:srgbClr val="AAC4E8"/>
              </a:solidFill>
              <a:latin typeface="Calibri" panose="020F0502020204030204"/>
            </a:endParaRPr>
          </a:p>
        </p:txBody>
      </p:sp>
      <p:sp>
        <p:nvSpPr>
          <p:cNvPr id="36" name="TextBox 35"/>
          <p:cNvSpPr txBox="1"/>
          <p:nvPr/>
        </p:nvSpPr>
        <p:spPr>
          <a:xfrm>
            <a:off x="7452360" y="5724144"/>
            <a:ext cx="2194560" cy="411480"/>
          </a:xfrm>
          <a:prstGeom prst="rect">
            <a:avLst/>
          </a:prstGeom>
          <a:noFill/>
        </p:spPr>
        <p:txBody>
          <a:bodyPr wrap="square">
            <a:spAutoFit/>
          </a:bodyPr>
          <a:lstStyle/>
          <a:p>
            <a:pPr algn="l"/>
            <a:r>
              <a:rPr sz="2000" b="1" i="0">
                <a:solidFill>
                  <a:srgbClr val="FFFFFF"/>
                </a:solidFill>
                <a:latin typeface="Calibri" panose="020F0502020204030204"/>
              </a:rPr>
              <a:t>1-click</a:t>
            </a:r>
            <a:endParaRPr sz="2000" b="1" i="0">
              <a:solidFill>
                <a:srgbClr val="FFFFFF"/>
              </a:solidFill>
              <a:latin typeface="Calibri" panose="020F0502020204030204"/>
            </a:endParaRPr>
          </a:p>
        </p:txBody>
      </p:sp>
      <p:sp>
        <p:nvSpPr>
          <p:cNvPr id="37" name="TextBox 36"/>
          <p:cNvSpPr txBox="1"/>
          <p:nvPr/>
        </p:nvSpPr>
        <p:spPr>
          <a:xfrm>
            <a:off x="7452360" y="6108192"/>
            <a:ext cx="2194560" cy="292608"/>
          </a:xfrm>
          <a:prstGeom prst="rect">
            <a:avLst/>
          </a:prstGeom>
          <a:noFill/>
        </p:spPr>
        <p:txBody>
          <a:bodyPr wrap="square">
            <a:spAutoFit/>
          </a:bodyPr>
          <a:lstStyle/>
          <a:p>
            <a:pPr algn="l"/>
            <a:r>
              <a:rPr sz="1100" b="0" i="0">
                <a:solidFill>
                  <a:srgbClr val="AAC4E8"/>
                </a:solidFill>
                <a:latin typeface="Calibri" panose="020F0502020204030204"/>
              </a:rPr>
              <a:t>CI/CD Deployment</a:t>
            </a:r>
            <a:endParaRPr sz="1100" b="0" i="0">
              <a:solidFill>
                <a:srgbClr val="AAC4E8"/>
              </a:solidFill>
              <a:latin typeface="Calibri" panose="020F0502020204030204"/>
            </a:endParaRPr>
          </a:p>
        </p:txBody>
      </p:sp>
      <p:sp>
        <p:nvSpPr>
          <p:cNvPr id="38" name="TextBox 37"/>
          <p:cNvSpPr txBox="1"/>
          <p:nvPr/>
        </p:nvSpPr>
        <p:spPr>
          <a:xfrm>
            <a:off x="9784080" y="5724144"/>
            <a:ext cx="2194560" cy="411480"/>
          </a:xfrm>
          <a:prstGeom prst="rect">
            <a:avLst/>
          </a:prstGeom>
          <a:noFill/>
        </p:spPr>
        <p:txBody>
          <a:bodyPr wrap="square">
            <a:spAutoFit/>
          </a:bodyPr>
          <a:lstStyle/>
          <a:p>
            <a:pPr algn="l"/>
            <a:r>
              <a:rPr sz="2000" b="1" i="0">
                <a:solidFill>
                  <a:srgbClr val="FFFFFF"/>
                </a:solidFill>
                <a:latin typeface="Calibri" panose="020F0502020204030204"/>
              </a:rPr>
              <a:t>Any file</a:t>
            </a:r>
            <a:endParaRPr sz="2000" b="1" i="0">
              <a:solidFill>
                <a:srgbClr val="FFFFFF"/>
              </a:solidFill>
              <a:latin typeface="Calibri" panose="020F0502020204030204"/>
            </a:endParaRPr>
          </a:p>
        </p:txBody>
      </p:sp>
      <p:sp>
        <p:nvSpPr>
          <p:cNvPr id="39" name="TextBox 38"/>
          <p:cNvSpPr txBox="1"/>
          <p:nvPr/>
        </p:nvSpPr>
        <p:spPr>
          <a:xfrm>
            <a:off x="9784080" y="6108192"/>
            <a:ext cx="2194560" cy="292608"/>
          </a:xfrm>
          <a:prstGeom prst="rect">
            <a:avLst/>
          </a:prstGeom>
          <a:noFill/>
        </p:spPr>
        <p:txBody>
          <a:bodyPr wrap="square">
            <a:spAutoFit/>
          </a:bodyPr>
          <a:lstStyle/>
          <a:p>
            <a:pPr algn="l"/>
            <a:r>
              <a:rPr sz="1100" b="0" i="0">
                <a:solidFill>
                  <a:srgbClr val="AAC4E8"/>
                </a:solidFill>
                <a:latin typeface="Calibri" panose="020F0502020204030204"/>
              </a:rPr>
              <a:t>PDF, Word, CSV, Log</a:t>
            </a:r>
            <a:endParaRPr sz="1100" b="0" i="0">
              <a:solidFill>
                <a:srgbClr val="AAC4E8"/>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144000" cy="640080"/>
          </a:xfrm>
          <a:prstGeom prst="rect">
            <a:avLst/>
          </a:prstGeom>
          <a:noFill/>
        </p:spPr>
        <p:txBody>
          <a:bodyPr wrap="square">
            <a:spAutoFit/>
          </a:bodyPr>
          <a:lstStyle/>
          <a:p>
            <a:pPr algn="l"/>
            <a:r>
              <a:rPr sz="2800" b="1" i="0">
                <a:solidFill>
                  <a:srgbClr val="FFFFFF"/>
                </a:solidFill>
                <a:latin typeface="Calibri" panose="020F0502020204030204"/>
              </a:rPr>
              <a:t>Current Scope</a:t>
            </a:r>
            <a:endParaRPr sz="2800" b="1" i="0">
              <a:solidFill>
                <a:srgbClr val="FFFFFF"/>
              </a:solidFill>
              <a:latin typeface="Calibri" panose="020F0502020204030204"/>
            </a:endParaRPr>
          </a:p>
        </p:txBody>
      </p:sp>
      <p:sp>
        <p:nvSpPr>
          <p:cNvPr id="5" name="TextBox 4"/>
          <p:cNvSpPr txBox="1"/>
          <p:nvPr/>
        </p:nvSpPr>
        <p:spPr>
          <a:xfrm>
            <a:off x="411480" y="713232"/>
            <a:ext cx="10515600" cy="411480"/>
          </a:xfrm>
          <a:prstGeom prst="rect">
            <a:avLst/>
          </a:prstGeom>
          <a:noFill/>
        </p:spPr>
        <p:txBody>
          <a:bodyPr wrap="square">
            <a:spAutoFit/>
          </a:bodyPr>
          <a:lstStyle/>
          <a:p>
            <a:pPr algn="l"/>
            <a:r>
              <a:rPr sz="1400" b="0" i="0">
                <a:solidFill>
                  <a:srgbClr val="AAC4E8"/>
                </a:solidFill>
                <a:latin typeface="Calibri" panose="020F0502020204030204"/>
              </a:rPr>
              <a:t>What is built and ready today</a:t>
            </a:r>
            <a:endParaRPr sz="1400" b="0" i="0">
              <a:solidFill>
                <a:srgbClr val="AAC4E8"/>
              </a:solidFill>
              <a:latin typeface="Calibri" panose="020F0502020204030204"/>
            </a:endParaRPr>
          </a:p>
        </p:txBody>
      </p:sp>
      <p:sp>
        <p:nvSpPr>
          <p:cNvPr id="6" name="Rectangle 5"/>
          <p:cNvSpPr/>
          <p:nvPr/>
        </p:nvSpPr>
        <p:spPr>
          <a:xfrm>
            <a:off x="0" y="1234440"/>
            <a:ext cx="12188952" cy="54864"/>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65392"/>
            <a:ext cx="12188952" cy="29260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444752"/>
            <a:ext cx="530352" cy="822960"/>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627632"/>
            <a:ext cx="530352" cy="411480"/>
          </a:xfrm>
          <a:prstGeom prst="rect">
            <a:avLst/>
          </a:prstGeom>
          <a:noFill/>
        </p:spPr>
        <p:txBody>
          <a:bodyPr wrap="square">
            <a:spAutoFit/>
          </a:bodyPr>
          <a:lstStyle/>
          <a:p>
            <a:pPr algn="ctr"/>
            <a:r>
              <a:rPr sz="1800" b="1" i="0">
                <a:solidFill>
                  <a:srgbClr val="FFFFFF"/>
                </a:solidFill>
                <a:latin typeface="Calibri" panose="020F0502020204030204"/>
              </a:rPr>
              <a:t>1</a:t>
            </a:r>
            <a:endParaRPr sz="1800" b="1" i="0">
              <a:solidFill>
                <a:srgbClr val="FFFFFF"/>
              </a:solidFill>
              <a:latin typeface="Calibri" panose="020F0502020204030204"/>
            </a:endParaRPr>
          </a:p>
        </p:txBody>
      </p:sp>
      <p:sp>
        <p:nvSpPr>
          <p:cNvPr id="11" name="Rectangle 10"/>
          <p:cNvSpPr/>
          <p:nvPr/>
        </p:nvSpPr>
        <p:spPr>
          <a:xfrm>
            <a:off x="850392" y="1444752"/>
            <a:ext cx="11018520" cy="8229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0392" y="1444752"/>
            <a:ext cx="54864" cy="822960"/>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508760"/>
            <a:ext cx="2377440" cy="347472"/>
          </a:xfrm>
          <a:prstGeom prst="rect">
            <a:avLst/>
          </a:prstGeom>
          <a:noFill/>
        </p:spPr>
        <p:txBody>
          <a:bodyPr wrap="square">
            <a:spAutoFit/>
          </a:bodyPr>
          <a:lstStyle/>
          <a:p>
            <a:pPr algn="l"/>
            <a:r>
              <a:rPr sz="1350" b="1" i="0">
                <a:solidFill>
                  <a:srgbClr val="1E6FBF"/>
                </a:solidFill>
                <a:latin typeface="Calibri" panose="020F0502020204030204"/>
              </a:rPr>
              <a:t>Document Analysis</a:t>
            </a:r>
            <a:endParaRPr sz="1350" b="1" i="0">
              <a:solidFill>
                <a:srgbClr val="1E6FBF"/>
              </a:solidFill>
              <a:latin typeface="Calibri" panose="020F0502020204030204"/>
            </a:endParaRPr>
          </a:p>
        </p:txBody>
      </p:sp>
      <p:sp>
        <p:nvSpPr>
          <p:cNvPr id="14" name="TextBox 13"/>
          <p:cNvSpPr txBox="1"/>
          <p:nvPr/>
        </p:nvSpPr>
        <p:spPr>
          <a:xfrm>
            <a:off x="3429000" y="1536192"/>
            <a:ext cx="8321040" cy="640080"/>
          </a:xfrm>
          <a:prstGeom prst="rect">
            <a:avLst/>
          </a:prstGeom>
          <a:noFill/>
        </p:spPr>
        <p:txBody>
          <a:bodyPr wrap="square">
            <a:spAutoFit/>
          </a:bodyPr>
          <a:lstStyle/>
          <a:p>
            <a:pPr algn="l"/>
            <a:r>
              <a:rPr sz="1250" b="0" i="0">
                <a:solidFill>
                  <a:srgbClr val="0D1B2A"/>
                </a:solidFill>
                <a:latin typeface="Calibri" panose="020F0502020204030204"/>
              </a:rPr>
              <a:t>Upload any file (PDF, Word, CSV, .log, .txt). AI auto-detects document type, surfaces key findings, error counts, stack traces, and suggested questions.</a:t>
            </a:r>
            <a:endParaRPr sz="1250" b="0" i="0">
              <a:solidFill>
                <a:srgbClr val="0D1B2A"/>
              </a:solidFill>
              <a:latin typeface="Calibri" panose="020F0502020204030204"/>
            </a:endParaRPr>
          </a:p>
        </p:txBody>
      </p:sp>
      <p:sp>
        <p:nvSpPr>
          <p:cNvPr id="15" name="Rectangle 14"/>
          <p:cNvSpPr/>
          <p:nvPr/>
        </p:nvSpPr>
        <p:spPr>
          <a:xfrm>
            <a:off x="320040" y="2414016"/>
            <a:ext cx="530352" cy="822960"/>
          </a:xfrm>
          <a:prstGeom prst="rect">
            <a:avLst/>
          </a:prstGeom>
          <a:solidFill>
            <a:srgbClr val="1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2596896"/>
            <a:ext cx="530352" cy="411480"/>
          </a:xfrm>
          <a:prstGeom prst="rect">
            <a:avLst/>
          </a:prstGeom>
          <a:noFill/>
        </p:spPr>
        <p:txBody>
          <a:bodyPr wrap="square">
            <a:spAutoFit/>
          </a:bodyPr>
          <a:lstStyle/>
          <a:p>
            <a:pPr algn="ctr"/>
            <a:r>
              <a:rPr sz="1800" b="1" i="0">
                <a:solidFill>
                  <a:srgbClr val="FFFFFF"/>
                </a:solidFill>
                <a:latin typeface="Calibri" panose="020F0502020204030204"/>
              </a:rPr>
              <a:t>2</a:t>
            </a:r>
            <a:endParaRPr sz="1800" b="1" i="0">
              <a:solidFill>
                <a:srgbClr val="FFFFFF"/>
              </a:solidFill>
              <a:latin typeface="Calibri" panose="020F0502020204030204"/>
            </a:endParaRPr>
          </a:p>
        </p:txBody>
      </p:sp>
      <p:sp>
        <p:nvSpPr>
          <p:cNvPr id="17" name="Rectangle 16"/>
          <p:cNvSpPr/>
          <p:nvPr/>
        </p:nvSpPr>
        <p:spPr>
          <a:xfrm>
            <a:off x="850392" y="2414016"/>
            <a:ext cx="11018520" cy="8229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0392" y="2414016"/>
            <a:ext cx="54864" cy="822960"/>
          </a:xfrm>
          <a:prstGeom prst="rect">
            <a:avLst/>
          </a:prstGeom>
          <a:solidFill>
            <a:srgbClr val="1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2478024"/>
            <a:ext cx="2377440" cy="347472"/>
          </a:xfrm>
          <a:prstGeom prst="rect">
            <a:avLst/>
          </a:prstGeom>
          <a:noFill/>
        </p:spPr>
        <p:txBody>
          <a:bodyPr wrap="square">
            <a:spAutoFit/>
          </a:bodyPr>
          <a:lstStyle/>
          <a:p>
            <a:pPr algn="l"/>
            <a:r>
              <a:rPr sz="1350" b="1" i="0">
                <a:solidFill>
                  <a:srgbClr val="1A8C5E"/>
                </a:solidFill>
                <a:latin typeface="Calibri" panose="020F0502020204030204"/>
              </a:rPr>
              <a:t>Remote Log Monitoring</a:t>
            </a:r>
            <a:endParaRPr sz="1350" b="1" i="0">
              <a:solidFill>
                <a:srgbClr val="1A8C5E"/>
              </a:solidFill>
              <a:latin typeface="Calibri" panose="020F0502020204030204"/>
            </a:endParaRPr>
          </a:p>
        </p:txBody>
      </p:sp>
      <p:sp>
        <p:nvSpPr>
          <p:cNvPr id="20" name="TextBox 19"/>
          <p:cNvSpPr txBox="1"/>
          <p:nvPr/>
        </p:nvSpPr>
        <p:spPr>
          <a:xfrm>
            <a:off x="3429000" y="2505456"/>
            <a:ext cx="8321040" cy="640080"/>
          </a:xfrm>
          <a:prstGeom prst="rect">
            <a:avLst/>
          </a:prstGeom>
          <a:noFill/>
        </p:spPr>
        <p:txBody>
          <a:bodyPr wrap="square">
            <a:spAutoFit/>
          </a:bodyPr>
          <a:lstStyle/>
          <a:p>
            <a:pPr algn="l"/>
            <a:r>
              <a:rPr sz="1250" b="0" i="0">
                <a:solidFill>
                  <a:srgbClr val="0D1B2A"/>
                </a:solidFill>
                <a:latin typeface="Calibri" panose="020F0502020204030204"/>
              </a:rPr>
              <a:t>SSH into up to N AWS EC2 servers. Pull logs incrementally on a configurable schedule. Email alerts when errors exceed threshold — with top error table and stack trace count.</a:t>
            </a:r>
            <a:endParaRPr sz="1250" b="0" i="0">
              <a:solidFill>
                <a:srgbClr val="0D1B2A"/>
              </a:solidFill>
              <a:latin typeface="Calibri" panose="020F0502020204030204"/>
            </a:endParaRPr>
          </a:p>
        </p:txBody>
      </p:sp>
      <p:sp>
        <p:nvSpPr>
          <p:cNvPr id="21" name="Rectangle 20"/>
          <p:cNvSpPr/>
          <p:nvPr/>
        </p:nvSpPr>
        <p:spPr>
          <a:xfrm>
            <a:off x="320040" y="3383280"/>
            <a:ext cx="530352" cy="822960"/>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3566160"/>
            <a:ext cx="530352" cy="411480"/>
          </a:xfrm>
          <a:prstGeom prst="rect">
            <a:avLst/>
          </a:prstGeom>
          <a:noFill/>
        </p:spPr>
        <p:txBody>
          <a:bodyPr wrap="square">
            <a:spAutoFit/>
          </a:bodyPr>
          <a:lstStyle/>
          <a:p>
            <a:pPr algn="ctr"/>
            <a:r>
              <a:rPr sz="1800" b="1" i="0">
                <a:solidFill>
                  <a:srgbClr val="FFFFFF"/>
                </a:solidFill>
                <a:latin typeface="Calibri" panose="020F0502020204030204"/>
              </a:rPr>
              <a:t>3</a:t>
            </a:r>
            <a:endParaRPr sz="1800" b="1" i="0">
              <a:solidFill>
                <a:srgbClr val="FFFFFF"/>
              </a:solidFill>
              <a:latin typeface="Calibri" panose="020F0502020204030204"/>
            </a:endParaRPr>
          </a:p>
        </p:txBody>
      </p:sp>
      <p:sp>
        <p:nvSpPr>
          <p:cNvPr id="23" name="Rectangle 22"/>
          <p:cNvSpPr/>
          <p:nvPr/>
        </p:nvSpPr>
        <p:spPr>
          <a:xfrm>
            <a:off x="850392" y="3383280"/>
            <a:ext cx="11018520" cy="8229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392" y="3383280"/>
            <a:ext cx="54864" cy="822960"/>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447288"/>
            <a:ext cx="2377440" cy="347472"/>
          </a:xfrm>
          <a:prstGeom prst="rect">
            <a:avLst/>
          </a:prstGeom>
          <a:noFill/>
        </p:spPr>
        <p:txBody>
          <a:bodyPr wrap="square">
            <a:spAutoFit/>
          </a:bodyPr>
          <a:lstStyle/>
          <a:p>
            <a:pPr algn="l"/>
            <a:r>
              <a:rPr sz="1350" b="1" i="0">
                <a:solidFill>
                  <a:srgbClr val="E87D1E"/>
                </a:solidFill>
                <a:latin typeface="Calibri" panose="020F0502020204030204"/>
              </a:rPr>
              <a:t>Git Integration &amp; Detection</a:t>
            </a:r>
            <a:endParaRPr sz="1350" b="1" i="0">
              <a:solidFill>
                <a:srgbClr val="E87D1E"/>
              </a:solidFill>
              <a:latin typeface="Calibri" panose="020F0502020204030204"/>
            </a:endParaRPr>
          </a:p>
        </p:txBody>
      </p:sp>
      <p:sp>
        <p:nvSpPr>
          <p:cNvPr id="26" name="TextBox 25"/>
          <p:cNvSpPr txBox="1"/>
          <p:nvPr/>
        </p:nvSpPr>
        <p:spPr>
          <a:xfrm>
            <a:off x="3429000" y="3474720"/>
            <a:ext cx="8321040" cy="640080"/>
          </a:xfrm>
          <a:prstGeom prst="rect">
            <a:avLst/>
          </a:prstGeom>
          <a:noFill/>
        </p:spPr>
        <p:txBody>
          <a:bodyPr wrap="square">
            <a:spAutoFit/>
          </a:bodyPr>
          <a:lstStyle/>
          <a:p>
            <a:pPr algn="l"/>
            <a:r>
              <a:rPr sz="1250" b="0" i="0">
                <a:solidFill>
                  <a:srgbClr val="0D1B2A"/>
                </a:solidFill>
                <a:latin typeface="Calibri" panose="020F0502020204030204"/>
              </a:rPr>
              <a:t>Connect a project's Git URL. Auto-detect type (Spring Boot JAR/WAR, React, Angular, Vue, Next.js) and build toolchain (Maven, Gradle, npm, yarn).</a:t>
            </a:r>
            <a:endParaRPr sz="1250" b="0" i="0">
              <a:solidFill>
                <a:srgbClr val="0D1B2A"/>
              </a:solidFill>
              <a:latin typeface="Calibri" panose="020F0502020204030204"/>
            </a:endParaRPr>
          </a:p>
        </p:txBody>
      </p:sp>
      <p:sp>
        <p:nvSpPr>
          <p:cNvPr id="27" name="Rectangle 26"/>
          <p:cNvSpPr/>
          <p:nvPr/>
        </p:nvSpPr>
        <p:spPr>
          <a:xfrm>
            <a:off x="320040" y="4352544"/>
            <a:ext cx="530352" cy="822960"/>
          </a:xfrm>
          <a:prstGeom prst="rect">
            <a:avLst/>
          </a:prstGeom>
          <a:solidFill>
            <a:srgbClr val="6A1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4535424"/>
            <a:ext cx="530352" cy="411480"/>
          </a:xfrm>
          <a:prstGeom prst="rect">
            <a:avLst/>
          </a:prstGeom>
          <a:noFill/>
        </p:spPr>
        <p:txBody>
          <a:bodyPr wrap="square">
            <a:spAutoFit/>
          </a:bodyPr>
          <a:lstStyle/>
          <a:p>
            <a:pPr algn="ctr"/>
            <a:r>
              <a:rPr sz="1800" b="1" i="0">
                <a:solidFill>
                  <a:srgbClr val="FFFFFF"/>
                </a:solidFill>
                <a:latin typeface="Calibri" panose="020F0502020204030204"/>
              </a:rPr>
              <a:t>4</a:t>
            </a:r>
            <a:endParaRPr sz="1800" b="1" i="0">
              <a:solidFill>
                <a:srgbClr val="FFFFFF"/>
              </a:solidFill>
              <a:latin typeface="Calibri" panose="020F0502020204030204"/>
            </a:endParaRPr>
          </a:p>
        </p:txBody>
      </p:sp>
      <p:sp>
        <p:nvSpPr>
          <p:cNvPr id="29" name="Rectangle 28"/>
          <p:cNvSpPr/>
          <p:nvPr/>
        </p:nvSpPr>
        <p:spPr>
          <a:xfrm>
            <a:off x="850392" y="4352544"/>
            <a:ext cx="11018520" cy="8229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50392" y="4352544"/>
            <a:ext cx="54864" cy="822960"/>
          </a:xfrm>
          <a:prstGeom prst="rect">
            <a:avLst/>
          </a:prstGeom>
          <a:solidFill>
            <a:srgbClr val="6A1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416552"/>
            <a:ext cx="2377440" cy="347472"/>
          </a:xfrm>
          <a:prstGeom prst="rect">
            <a:avLst/>
          </a:prstGeom>
          <a:noFill/>
        </p:spPr>
        <p:txBody>
          <a:bodyPr wrap="square">
            <a:spAutoFit/>
          </a:bodyPr>
          <a:lstStyle/>
          <a:p>
            <a:pPr algn="l"/>
            <a:r>
              <a:rPr sz="1350" b="1" i="0">
                <a:solidFill>
                  <a:srgbClr val="6A1BAA"/>
                </a:solidFill>
                <a:latin typeface="Calibri" panose="020F0502020204030204"/>
              </a:rPr>
              <a:t>CI/CD Deployment</a:t>
            </a:r>
            <a:endParaRPr sz="1350" b="1" i="0">
              <a:solidFill>
                <a:srgbClr val="6A1BAA"/>
              </a:solidFill>
              <a:latin typeface="Calibri" panose="020F0502020204030204"/>
            </a:endParaRPr>
          </a:p>
        </p:txBody>
      </p:sp>
      <p:sp>
        <p:nvSpPr>
          <p:cNvPr id="32" name="TextBox 31"/>
          <p:cNvSpPr txBox="1"/>
          <p:nvPr/>
        </p:nvSpPr>
        <p:spPr>
          <a:xfrm>
            <a:off x="3429000" y="4443984"/>
            <a:ext cx="8321040" cy="640080"/>
          </a:xfrm>
          <a:prstGeom prst="rect">
            <a:avLst/>
          </a:prstGeom>
          <a:noFill/>
        </p:spPr>
        <p:txBody>
          <a:bodyPr wrap="square">
            <a:spAutoFit/>
          </a:bodyPr>
          <a:lstStyle/>
          <a:p>
            <a:pPr algn="l"/>
            <a:r>
              <a:rPr sz="1250" b="0" i="0">
                <a:solidFill>
                  <a:srgbClr val="0D1B2A"/>
                </a:solidFill>
                <a:latin typeface="Calibri" panose="020F0502020204030204"/>
              </a:rPr>
              <a:t>Trigger GitHub Actions, Jenkins, or GitLab CI pipelines with one click. Fall back to SSH git pull → build → deploy for projects without a pipeline.</a:t>
            </a:r>
            <a:endParaRPr sz="1250" b="0" i="0">
              <a:solidFill>
                <a:srgbClr val="0D1B2A"/>
              </a:solidFill>
              <a:latin typeface="Calibri" panose="020F0502020204030204"/>
            </a:endParaRPr>
          </a:p>
        </p:txBody>
      </p:sp>
      <p:sp>
        <p:nvSpPr>
          <p:cNvPr id="33" name="Rectangle 32"/>
          <p:cNvSpPr/>
          <p:nvPr/>
        </p:nvSpPr>
        <p:spPr>
          <a:xfrm>
            <a:off x="320040" y="5321808"/>
            <a:ext cx="530352" cy="82296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5504688"/>
            <a:ext cx="530352" cy="411480"/>
          </a:xfrm>
          <a:prstGeom prst="rect">
            <a:avLst/>
          </a:prstGeom>
          <a:noFill/>
        </p:spPr>
        <p:txBody>
          <a:bodyPr wrap="square">
            <a:spAutoFit/>
          </a:bodyPr>
          <a:lstStyle/>
          <a:p>
            <a:pPr algn="ctr"/>
            <a:r>
              <a:rPr sz="1800" b="1" i="0">
                <a:solidFill>
                  <a:srgbClr val="FFFFFF"/>
                </a:solidFill>
                <a:latin typeface="Calibri" panose="020F0502020204030204"/>
              </a:rPr>
              <a:t>5</a:t>
            </a:r>
            <a:endParaRPr sz="1800" b="1" i="0">
              <a:solidFill>
                <a:srgbClr val="FFFFFF"/>
              </a:solidFill>
              <a:latin typeface="Calibri" panose="020F0502020204030204"/>
            </a:endParaRPr>
          </a:p>
        </p:txBody>
      </p:sp>
      <p:sp>
        <p:nvSpPr>
          <p:cNvPr id="35" name="Rectangle 34"/>
          <p:cNvSpPr/>
          <p:nvPr/>
        </p:nvSpPr>
        <p:spPr>
          <a:xfrm>
            <a:off x="850392" y="5321808"/>
            <a:ext cx="11018520" cy="8229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50392" y="5321808"/>
            <a:ext cx="54864" cy="822960"/>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5385816"/>
            <a:ext cx="2377440" cy="347472"/>
          </a:xfrm>
          <a:prstGeom prst="rect">
            <a:avLst/>
          </a:prstGeom>
          <a:noFill/>
        </p:spPr>
        <p:txBody>
          <a:bodyPr wrap="square">
            <a:spAutoFit/>
          </a:bodyPr>
          <a:lstStyle/>
          <a:p>
            <a:pPr algn="l"/>
            <a:r>
              <a:rPr sz="1350" b="1" i="0">
                <a:solidFill>
                  <a:srgbClr val="007A8A"/>
                </a:solidFill>
                <a:latin typeface="Calibri" panose="020F0502020204030204"/>
              </a:rPr>
              <a:t>IDE Hook — REST API</a:t>
            </a:r>
            <a:endParaRPr sz="1350" b="1" i="0">
              <a:solidFill>
                <a:srgbClr val="007A8A"/>
              </a:solidFill>
              <a:latin typeface="Calibri" panose="020F0502020204030204"/>
            </a:endParaRPr>
          </a:p>
        </p:txBody>
      </p:sp>
      <p:sp>
        <p:nvSpPr>
          <p:cNvPr id="38" name="TextBox 37"/>
          <p:cNvSpPr txBox="1"/>
          <p:nvPr/>
        </p:nvSpPr>
        <p:spPr>
          <a:xfrm>
            <a:off x="3429000" y="5413248"/>
            <a:ext cx="8321040" cy="640080"/>
          </a:xfrm>
          <a:prstGeom prst="rect">
            <a:avLst/>
          </a:prstGeom>
          <a:noFill/>
        </p:spPr>
        <p:txBody>
          <a:bodyPr wrap="square">
            <a:spAutoFit/>
          </a:bodyPr>
          <a:lstStyle/>
          <a:p>
            <a:pPr algn="l"/>
            <a:r>
              <a:rPr sz="1250" b="0" i="0">
                <a:solidFill>
                  <a:srgbClr val="0D1B2A"/>
                </a:solidFill>
                <a:latin typeface="Calibri" panose="020F0502020204030204"/>
              </a:rPr>
              <a:t>POST /analyze and POST /ask endpoints on localhost:8000. IDE plugins (VS Code, IntelliJ, Visual Studio) send files and receive AI analysis without a browser.</a:t>
            </a:r>
            <a:endParaRPr sz="1250" b="0" i="0">
              <a:solidFill>
                <a:srgbClr val="0D1B2A"/>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144000" cy="640080"/>
          </a:xfrm>
          <a:prstGeom prst="rect">
            <a:avLst/>
          </a:prstGeom>
          <a:noFill/>
        </p:spPr>
        <p:txBody>
          <a:bodyPr wrap="square">
            <a:spAutoFit/>
          </a:bodyPr>
          <a:lstStyle/>
          <a:p>
            <a:pPr algn="l"/>
            <a:r>
              <a:rPr sz="2800" b="1" i="0">
                <a:solidFill>
                  <a:srgbClr val="FFFFFF"/>
                </a:solidFill>
                <a:latin typeface="Calibri" panose="020F0502020204030204"/>
              </a:rPr>
              <a:t>Future Scope</a:t>
            </a:r>
            <a:endParaRPr sz="2800" b="1" i="0">
              <a:solidFill>
                <a:srgbClr val="FFFFFF"/>
              </a:solidFill>
              <a:latin typeface="Calibri" panose="020F0502020204030204"/>
            </a:endParaRPr>
          </a:p>
        </p:txBody>
      </p:sp>
      <p:sp>
        <p:nvSpPr>
          <p:cNvPr id="5" name="TextBox 4"/>
          <p:cNvSpPr txBox="1"/>
          <p:nvPr/>
        </p:nvSpPr>
        <p:spPr>
          <a:xfrm>
            <a:off x="411480" y="713232"/>
            <a:ext cx="10515600" cy="411480"/>
          </a:xfrm>
          <a:prstGeom prst="rect">
            <a:avLst/>
          </a:prstGeom>
          <a:noFill/>
        </p:spPr>
        <p:txBody>
          <a:bodyPr wrap="square">
            <a:spAutoFit/>
          </a:bodyPr>
          <a:lstStyle/>
          <a:p>
            <a:pPr algn="l"/>
            <a:r>
              <a:rPr sz="1400" b="0" i="0">
                <a:solidFill>
                  <a:srgbClr val="AAC4E8"/>
                </a:solidFill>
                <a:latin typeface="Calibri" panose="020F0502020204030204"/>
              </a:rPr>
              <a:t>Planned phases after initial rollout</a:t>
            </a:r>
            <a:endParaRPr sz="1400" b="0" i="0">
              <a:solidFill>
                <a:srgbClr val="AAC4E8"/>
              </a:solidFill>
              <a:latin typeface="Calibri" panose="020F0502020204030204"/>
            </a:endParaRPr>
          </a:p>
        </p:txBody>
      </p:sp>
      <p:sp>
        <p:nvSpPr>
          <p:cNvPr id="6" name="Rectangle 5"/>
          <p:cNvSpPr/>
          <p:nvPr/>
        </p:nvSpPr>
        <p:spPr>
          <a:xfrm>
            <a:off x="0" y="1234440"/>
            <a:ext cx="12188952" cy="54864"/>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65392"/>
            <a:ext cx="12188952" cy="292608"/>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444752"/>
            <a:ext cx="3429000" cy="19933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444752"/>
            <a:ext cx="3429000" cy="54864"/>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444752"/>
            <a:ext cx="64008" cy="1993392"/>
          </a:xfrm>
          <a:prstGeom prst="rect">
            <a:avLst/>
          </a:prstGeom>
          <a:solidFill>
            <a:srgbClr val="1E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536192"/>
            <a:ext cx="3154680" cy="457200"/>
          </a:xfrm>
          <a:prstGeom prst="rect">
            <a:avLst/>
          </a:prstGeom>
          <a:noFill/>
        </p:spPr>
        <p:txBody>
          <a:bodyPr wrap="square">
            <a:spAutoFit/>
          </a:bodyPr>
          <a:lstStyle/>
          <a:p>
            <a:pPr algn="l"/>
            <a:r>
              <a:rPr sz="1350" b="1" i="0">
                <a:solidFill>
                  <a:srgbClr val="0D1B2A"/>
                </a:solidFill>
                <a:latin typeface="Calibri" panose="020F0502020204030204"/>
              </a:rPr>
              <a:t>Slack / Microsoft Teams Notifications</a:t>
            </a:r>
            <a:endParaRPr sz="1350" b="1" i="0">
              <a:solidFill>
                <a:srgbClr val="0D1B2A"/>
              </a:solidFill>
              <a:latin typeface="Calibri" panose="020F0502020204030204"/>
            </a:endParaRPr>
          </a:p>
        </p:txBody>
      </p:sp>
      <p:sp>
        <p:nvSpPr>
          <p:cNvPr id="13" name="TextBox 12"/>
          <p:cNvSpPr txBox="1"/>
          <p:nvPr/>
        </p:nvSpPr>
        <p:spPr>
          <a:xfrm>
            <a:off x="502920" y="2039112"/>
            <a:ext cx="3154680" cy="1307592"/>
          </a:xfrm>
          <a:prstGeom prst="rect">
            <a:avLst/>
          </a:prstGeom>
          <a:noFill/>
        </p:spPr>
        <p:txBody>
          <a:bodyPr wrap="square">
            <a:spAutoFit/>
          </a:bodyPr>
          <a:lstStyle/>
          <a:p>
            <a:pPr algn="l"/>
            <a:r>
              <a:rPr sz="1200" b="0" i="0">
                <a:solidFill>
                  <a:srgbClr val="556577"/>
                </a:solidFill>
                <a:latin typeface="Calibri" panose="020F0502020204030204"/>
              </a:rPr>
              <a:t>Send alert summaries directly to team channels in addition to email. Developers get notified where they already work.</a:t>
            </a:r>
            <a:endParaRPr sz="1200" b="0" i="0">
              <a:solidFill>
                <a:srgbClr val="556577"/>
              </a:solidFill>
              <a:latin typeface="Calibri" panose="020F0502020204030204"/>
            </a:endParaRPr>
          </a:p>
        </p:txBody>
      </p:sp>
      <p:sp>
        <p:nvSpPr>
          <p:cNvPr id="14" name="Rectangle 13"/>
          <p:cNvSpPr/>
          <p:nvPr/>
        </p:nvSpPr>
        <p:spPr>
          <a:xfrm>
            <a:off x="3977640" y="1444752"/>
            <a:ext cx="3429000" cy="19933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977640" y="1444752"/>
            <a:ext cx="3429000" cy="54864"/>
          </a:xfrm>
          <a:prstGeom prst="rect">
            <a:avLst/>
          </a:prstGeom>
          <a:solidFill>
            <a:srgbClr val="1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77640" y="1444752"/>
            <a:ext cx="64008" cy="1993392"/>
          </a:xfrm>
          <a:prstGeom prst="rect">
            <a:avLst/>
          </a:prstGeom>
          <a:solidFill>
            <a:srgbClr val="1A8C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60520" y="1536192"/>
            <a:ext cx="3154680" cy="457200"/>
          </a:xfrm>
          <a:prstGeom prst="rect">
            <a:avLst/>
          </a:prstGeom>
          <a:noFill/>
        </p:spPr>
        <p:txBody>
          <a:bodyPr wrap="square">
            <a:spAutoFit/>
          </a:bodyPr>
          <a:lstStyle/>
          <a:p>
            <a:pPr algn="l"/>
            <a:r>
              <a:rPr sz="1350" b="1" i="0">
                <a:solidFill>
                  <a:srgbClr val="0D1B2A"/>
                </a:solidFill>
                <a:latin typeface="Calibri" panose="020F0502020204030204"/>
              </a:rPr>
              <a:t>Auto-Fix Suggestions</a:t>
            </a:r>
            <a:endParaRPr sz="1350" b="1" i="0">
              <a:solidFill>
                <a:srgbClr val="0D1B2A"/>
              </a:solidFill>
              <a:latin typeface="Calibri" panose="020F0502020204030204"/>
            </a:endParaRPr>
          </a:p>
        </p:txBody>
      </p:sp>
      <p:sp>
        <p:nvSpPr>
          <p:cNvPr id="18" name="TextBox 17"/>
          <p:cNvSpPr txBox="1"/>
          <p:nvPr/>
        </p:nvSpPr>
        <p:spPr>
          <a:xfrm>
            <a:off x="4160520" y="2039112"/>
            <a:ext cx="3154680" cy="1307592"/>
          </a:xfrm>
          <a:prstGeom prst="rect">
            <a:avLst/>
          </a:prstGeom>
          <a:noFill/>
        </p:spPr>
        <p:txBody>
          <a:bodyPr wrap="square">
            <a:spAutoFit/>
          </a:bodyPr>
          <a:lstStyle/>
          <a:p>
            <a:pPr algn="l"/>
            <a:r>
              <a:rPr sz="1200" b="0" i="0">
                <a:solidFill>
                  <a:srgbClr val="556577"/>
                </a:solidFill>
                <a:latin typeface="Calibri" panose="020F0502020204030204"/>
              </a:rPr>
              <a:t>When a known error pattern is detected in a log, suggest a fix or link to a runbook — directly in the IDE or email alert.</a:t>
            </a:r>
            <a:endParaRPr sz="1200" b="0" i="0">
              <a:solidFill>
                <a:srgbClr val="556577"/>
              </a:solidFill>
              <a:latin typeface="Calibri" panose="020F0502020204030204"/>
            </a:endParaRPr>
          </a:p>
        </p:txBody>
      </p:sp>
      <p:sp>
        <p:nvSpPr>
          <p:cNvPr id="19" name="Rectangle 18"/>
          <p:cNvSpPr/>
          <p:nvPr/>
        </p:nvSpPr>
        <p:spPr>
          <a:xfrm>
            <a:off x="7635240" y="1444752"/>
            <a:ext cx="3429000" cy="19933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35240" y="1444752"/>
            <a:ext cx="3429000" cy="54864"/>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35240" y="1444752"/>
            <a:ext cx="64008" cy="1993392"/>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18120" y="1536192"/>
            <a:ext cx="3154680" cy="457200"/>
          </a:xfrm>
          <a:prstGeom prst="rect">
            <a:avLst/>
          </a:prstGeom>
          <a:noFill/>
        </p:spPr>
        <p:txBody>
          <a:bodyPr wrap="square">
            <a:spAutoFit/>
          </a:bodyPr>
          <a:lstStyle/>
          <a:p>
            <a:pPr algn="l"/>
            <a:r>
              <a:rPr sz="1350" b="1" i="0">
                <a:solidFill>
                  <a:srgbClr val="0D1B2A"/>
                </a:solidFill>
                <a:latin typeface="Calibri" panose="020F0502020204030204"/>
              </a:rPr>
              <a:t>Multi-Server Dashboard</a:t>
            </a:r>
            <a:endParaRPr sz="1350" b="1" i="0">
              <a:solidFill>
                <a:srgbClr val="0D1B2A"/>
              </a:solidFill>
              <a:latin typeface="Calibri" panose="020F0502020204030204"/>
            </a:endParaRPr>
          </a:p>
        </p:txBody>
      </p:sp>
      <p:sp>
        <p:nvSpPr>
          <p:cNvPr id="23" name="TextBox 22"/>
          <p:cNvSpPr txBox="1"/>
          <p:nvPr/>
        </p:nvSpPr>
        <p:spPr>
          <a:xfrm>
            <a:off x="7818120" y="2039112"/>
            <a:ext cx="3154680" cy="1307592"/>
          </a:xfrm>
          <a:prstGeom prst="rect">
            <a:avLst/>
          </a:prstGeom>
          <a:noFill/>
        </p:spPr>
        <p:txBody>
          <a:bodyPr wrap="square">
            <a:spAutoFit/>
          </a:bodyPr>
          <a:lstStyle/>
          <a:p>
            <a:pPr algn="l"/>
            <a:r>
              <a:rPr sz="1200" b="0" i="0">
                <a:solidFill>
                  <a:srgbClr val="556577"/>
                </a:solidFill>
                <a:latin typeface="Calibri" panose="020F0502020204030204"/>
              </a:rPr>
              <a:t>Aggregate health status, error trends, and deployment history across all projects in a single view with charts and drill-down.</a:t>
            </a:r>
            <a:endParaRPr sz="1200" b="0" i="0">
              <a:solidFill>
                <a:srgbClr val="556577"/>
              </a:solidFill>
              <a:latin typeface="Calibri" panose="020F0502020204030204"/>
            </a:endParaRPr>
          </a:p>
        </p:txBody>
      </p:sp>
      <p:sp>
        <p:nvSpPr>
          <p:cNvPr id="24" name="Rectangle 23"/>
          <p:cNvSpPr/>
          <p:nvPr/>
        </p:nvSpPr>
        <p:spPr>
          <a:xfrm>
            <a:off x="320040" y="3657600"/>
            <a:ext cx="5394960" cy="19933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 y="3657600"/>
            <a:ext cx="5394960" cy="54864"/>
          </a:xfrm>
          <a:prstGeom prst="rect">
            <a:avLst/>
          </a:prstGeom>
          <a:solidFill>
            <a:srgbClr val="6A1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040" y="3657600"/>
            <a:ext cx="64008" cy="1993392"/>
          </a:xfrm>
          <a:prstGeom prst="rect">
            <a:avLst/>
          </a:prstGeom>
          <a:solidFill>
            <a:srgbClr val="6A1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3749040"/>
            <a:ext cx="5120640" cy="411480"/>
          </a:xfrm>
          <a:prstGeom prst="rect">
            <a:avLst/>
          </a:prstGeom>
          <a:noFill/>
        </p:spPr>
        <p:txBody>
          <a:bodyPr wrap="square">
            <a:spAutoFit/>
          </a:bodyPr>
          <a:lstStyle/>
          <a:p>
            <a:pPr algn="l"/>
            <a:r>
              <a:rPr sz="1350" b="1" i="0">
                <a:solidFill>
                  <a:srgbClr val="0D1B2A"/>
                </a:solidFill>
                <a:latin typeface="Calibri" panose="020F0502020204030204"/>
              </a:rPr>
              <a:t>Published IDE Plugins</a:t>
            </a:r>
            <a:endParaRPr sz="1350" b="1" i="0">
              <a:solidFill>
                <a:srgbClr val="0D1B2A"/>
              </a:solidFill>
              <a:latin typeface="Calibri" panose="020F0502020204030204"/>
            </a:endParaRPr>
          </a:p>
        </p:txBody>
      </p:sp>
      <p:sp>
        <p:nvSpPr>
          <p:cNvPr id="28" name="TextBox 27"/>
          <p:cNvSpPr txBox="1"/>
          <p:nvPr/>
        </p:nvSpPr>
        <p:spPr>
          <a:xfrm>
            <a:off x="502920" y="4206240"/>
            <a:ext cx="5120640" cy="1353312"/>
          </a:xfrm>
          <a:prstGeom prst="rect">
            <a:avLst/>
          </a:prstGeom>
          <a:noFill/>
        </p:spPr>
        <p:txBody>
          <a:bodyPr wrap="square">
            <a:spAutoFit/>
          </a:bodyPr>
          <a:lstStyle/>
          <a:p>
            <a:pPr algn="l"/>
            <a:r>
              <a:rPr sz="1200" b="0" i="0">
                <a:solidFill>
                  <a:srgbClr val="556577"/>
                </a:solidFill>
                <a:latin typeface="Calibri" panose="020F0502020204030204"/>
              </a:rPr>
              <a:t>Package and publish VS Code extension to the Marketplace and IntelliJ plugin to the JetBrains Plugin Repository — one-click install for developers.</a:t>
            </a:r>
            <a:endParaRPr sz="1200" b="0" i="0">
              <a:solidFill>
                <a:srgbClr val="556577"/>
              </a:solidFill>
              <a:latin typeface="Calibri" panose="020F0502020204030204"/>
            </a:endParaRPr>
          </a:p>
        </p:txBody>
      </p:sp>
      <p:sp>
        <p:nvSpPr>
          <p:cNvPr id="29" name="Rectangle 28"/>
          <p:cNvSpPr/>
          <p:nvPr/>
        </p:nvSpPr>
        <p:spPr>
          <a:xfrm>
            <a:off x="6108192" y="3657600"/>
            <a:ext cx="5394960" cy="199339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08192" y="3657600"/>
            <a:ext cx="5394960" cy="54864"/>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08192" y="3657600"/>
            <a:ext cx="64008" cy="1993392"/>
          </a:xfrm>
          <a:prstGeom prst="rect">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91072" y="3749040"/>
            <a:ext cx="5120640" cy="411480"/>
          </a:xfrm>
          <a:prstGeom prst="rect">
            <a:avLst/>
          </a:prstGeom>
          <a:noFill/>
        </p:spPr>
        <p:txBody>
          <a:bodyPr wrap="square">
            <a:spAutoFit/>
          </a:bodyPr>
          <a:lstStyle/>
          <a:p>
            <a:pPr algn="l"/>
            <a:r>
              <a:rPr sz="1350" b="1" i="0">
                <a:solidFill>
                  <a:srgbClr val="0D1B2A"/>
                </a:solidFill>
                <a:latin typeface="Calibri" panose="020F0502020204030204"/>
              </a:rPr>
              <a:t>Scheduled Report Generation</a:t>
            </a:r>
            <a:endParaRPr sz="1350" b="1" i="0">
              <a:solidFill>
                <a:srgbClr val="0D1B2A"/>
              </a:solidFill>
              <a:latin typeface="Calibri" panose="020F0502020204030204"/>
            </a:endParaRPr>
          </a:p>
        </p:txBody>
      </p:sp>
      <p:sp>
        <p:nvSpPr>
          <p:cNvPr id="33" name="TextBox 32"/>
          <p:cNvSpPr txBox="1"/>
          <p:nvPr/>
        </p:nvSpPr>
        <p:spPr>
          <a:xfrm>
            <a:off x="6291072" y="4206240"/>
            <a:ext cx="5120640" cy="1353312"/>
          </a:xfrm>
          <a:prstGeom prst="rect">
            <a:avLst/>
          </a:prstGeom>
          <a:noFill/>
        </p:spPr>
        <p:txBody>
          <a:bodyPr wrap="square">
            <a:spAutoFit/>
          </a:bodyPr>
          <a:lstStyle/>
          <a:p>
            <a:pPr algn="l"/>
            <a:r>
              <a:rPr sz="1200" b="0" i="0">
                <a:solidFill>
                  <a:srgbClr val="556577"/>
                </a:solidFill>
                <a:latin typeface="Calibri" panose="020F0502020204030204"/>
              </a:rPr>
              <a:t>Weekly PDF summaries of error trends, deployment history, and document activity per project — delivered by email automatically.</a:t>
            </a:r>
            <a:endParaRPr sz="1200" b="0" i="0">
              <a:solidFill>
                <a:srgbClr val="556577"/>
              </a:solidFill>
              <a:latin typeface="Calibri" panose="020F0502020204030204"/>
            </a:endParaRPr>
          </a:p>
        </p:txBody>
      </p:sp>
      <p:sp>
        <p:nvSpPr>
          <p:cNvPr id="34" name="Rectangle 33"/>
          <p:cNvSpPr/>
          <p:nvPr/>
        </p:nvSpPr>
        <p:spPr>
          <a:xfrm>
            <a:off x="0" y="5833872"/>
            <a:ext cx="12188952" cy="658368"/>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5269</Words>
  <Application>WPS Presentation</Application>
  <PresentationFormat>On-screen Show (4:3)</PresentationFormat>
  <Paragraphs>204</Paragraphs>
  <Slides>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vt:i4>
      </vt:variant>
    </vt:vector>
  </HeadingPairs>
  <TitlesOfParts>
    <vt:vector size="16" baseType="lpstr">
      <vt:lpstr>Arial</vt:lpstr>
      <vt:lpstr>SimSun</vt:lpstr>
      <vt:lpstr>Wingdings</vt:lpstr>
      <vt:lpstr>Arial</vt:lpstr>
      <vt:lpstr>Calibri</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Pavi Venki</cp:lastModifiedBy>
  <cp:revision>2</cp:revision>
  <dcterms:created xsi:type="dcterms:W3CDTF">2013-01-27T09:14:00Z</dcterms:created>
  <dcterms:modified xsi:type="dcterms:W3CDTF">2026-05-28T13:19:51Z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D67F27951C0E4A85B0471E5633A776C1_12</vt:lpwstr>
  </property>
</Properties>
</file>